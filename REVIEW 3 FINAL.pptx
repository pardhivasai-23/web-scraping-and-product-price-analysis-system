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68" r:id="rId2"/>
    <p:sldId id="1785" r:id="rId3"/>
    <p:sldId id="1786" r:id="rId4"/>
    <p:sldId id="1787" r:id="rId5"/>
    <p:sldId id="1788" r:id="rId6"/>
    <p:sldId id="1789" r:id="rId7"/>
    <p:sldId id="1790" r:id="rId8"/>
    <p:sldId id="1791" r:id="rId9"/>
    <p:sldId id="1792" r:id="rId10"/>
    <p:sldId id="1793" r:id="rId11"/>
    <p:sldId id="1794" r:id="rId12"/>
    <p:sldId id="1795" r:id="rId13"/>
    <p:sldId id="1796" r:id="rId14"/>
    <p:sldId id="1797" r:id="rId15"/>
    <p:sldId id="1798" r:id="rId16"/>
    <p:sldId id="1799" r:id="rId17"/>
    <p:sldId id="1800" r:id="rId18"/>
    <p:sldId id="1801" r:id="rId19"/>
    <p:sldId id="1802" r:id="rId20"/>
    <p:sldId id="1803" r:id="rId21"/>
    <p:sldId id="1804" r:id="rId22"/>
    <p:sldId id="176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5F727E-40F8-4872-A790-4CEAD5DC61EE}" v="1" dt="2026-09-27T16:41:40.769"/>
    <p1510:client id="{5B50B05C-09B1-40A9-9CE9-99A18EE575A2}" v="2" dt="2026-09-28T03:59:03.2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307" autoAdjust="0"/>
  </p:normalViewPr>
  <p:slideViewPr>
    <p:cSldViewPr>
      <p:cViewPr varScale="1">
        <p:scale>
          <a:sx n="49" d="100"/>
          <a:sy n="49" d="100"/>
        </p:scale>
        <p:origin x="1512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YA K" userId="d7024f7c5a946c5d" providerId="LiveId" clId="{C911E434-838F-4F1F-8F46-E11DC70C30B8}"/>
    <pc:docChg chg="undo custSel modSld">
      <pc:chgData name="SURYA K" userId="d7024f7c5a946c5d" providerId="LiveId" clId="{C911E434-838F-4F1F-8F46-E11DC70C30B8}" dt="2026-09-28T04:03:31.805" v="57" actId="2711"/>
      <pc:docMkLst>
        <pc:docMk/>
      </pc:docMkLst>
      <pc:sldChg chg="modSp mod">
        <pc:chgData name="SURYA K" userId="d7024f7c5a946c5d" providerId="LiveId" clId="{C911E434-838F-4F1F-8F46-E11DC70C30B8}" dt="2026-09-28T04:03:31.805" v="57" actId="2711"/>
        <pc:sldMkLst>
          <pc:docMk/>
          <pc:sldMk cId="0" sldId="268"/>
        </pc:sldMkLst>
        <pc:spChg chg="mod">
          <ac:chgData name="SURYA K" userId="d7024f7c5a946c5d" providerId="LiveId" clId="{C911E434-838F-4F1F-8F46-E11DC70C30B8}" dt="2026-09-28T04:03:31.805" v="57" actId="2711"/>
          <ac:spMkLst>
            <pc:docMk/>
            <pc:sldMk cId="0" sldId="268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E25116-00D9-4A77-BFEB-9388F8B9BA67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91F5B3-4BBF-41F2-8804-AFC586FF4C0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C4122-21D7-4D2E-9537-F9D5F36E3D21}" type="datetime3">
              <a:rPr lang="en-US" smtClean="0"/>
              <a:t>26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7603C-9C71-4375-9B9C-07CB8A3E7A57}" type="datetime3">
              <a:rPr lang="en-US" smtClean="0"/>
              <a:t>26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1E986-61DE-4AB4-91FB-298D4541D173}" type="datetime3">
              <a:rPr lang="en-US" smtClean="0"/>
              <a:t>26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96C85-4D28-466E-8276-D1328B90FAC2}" type="datetime3">
              <a:rPr lang="en-US" smtClean="0"/>
              <a:t>26 October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A0926-7F03-40DF-B510-A433943B4037}" type="datetime3">
              <a:rPr lang="en-US" smtClean="0"/>
              <a:t>26 October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B668-7437-4438-91AB-1C90BD88D37C}" type="datetime3">
              <a:rPr lang="en-US" smtClean="0"/>
              <a:t>26 October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A918-FD71-421A-8887-A378854027B1}" type="datetime3">
              <a:rPr lang="en-US" smtClean="0"/>
              <a:t>26 October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BF877-3539-4BD4-86DE-2BE37BC6985F}" type="datetime3">
              <a:rPr lang="en-US" smtClean="0"/>
              <a:t>26 October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0C93-7BFE-482C-9BCB-7503D20D7B23}" type="datetime3">
              <a:rPr lang="en-US" smtClean="0"/>
              <a:t>26 October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CB437-AC66-43EC-9CBF-2B945F499F52}" type="datetime3">
              <a:rPr lang="en-US" smtClean="0"/>
              <a:t>26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ACE-B2CC-417F-BA68-DB002F313D0E}" type="datetime3">
              <a:rPr lang="en-US" smtClean="0"/>
              <a:t>26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1103D-639F-4D8B-9094-99FCF04F5B20}" type="datetime3">
              <a:rPr lang="en-US" smtClean="0"/>
              <a:t>26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754702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629FF-3FC9-4ED2-8167-F1E9CD28EC76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39" y="-27061"/>
            <a:ext cx="1862765" cy="139707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248130" y="449794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Aditya Engineering College(A)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8112125" y="6597650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7177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351A7-5C5E-4743-B9A6-C943367A812C}" type="datetime3">
              <a:rPr lang="en-US" smtClean="0"/>
              <a:t>26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My\Desktop\Cap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86100" y="108763"/>
            <a:ext cx="6019800" cy="1019343"/>
          </a:xfrm>
          <a:prstGeom prst="rect">
            <a:avLst/>
          </a:prstGeom>
          <a:noFill/>
        </p:spPr>
      </p:pic>
      <p:sp>
        <p:nvSpPr>
          <p:cNvPr id="1027" name="Review label"/>
          <p:cNvSpPr txBox="1"/>
          <p:nvPr/>
        </p:nvSpPr>
        <p:spPr>
          <a:xfrm>
            <a:off x="1524000" y="1560000"/>
            <a:ext cx="9144000" cy="42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2000" b="1">
                <a:solidFill>
                  <a:srgbClr val="2F5D9B"/>
                </a:solidFill>
                <a:latin typeface="Cambria"/>
              </a:rPr>
              <a:t>FINAL REVIEW  |  DAE CORNERSTONE PROJECT</a:t>
            </a:r>
          </a:p>
        </p:txBody>
      </p:sp>
      <p:sp>
        <p:nvSpPr>
          <p:cNvPr id="1028" name="Project title"/>
          <p:cNvSpPr txBox="1"/>
          <p:nvPr/>
        </p:nvSpPr>
        <p:spPr>
          <a:xfrm>
            <a:off x="914400" y="2000000"/>
            <a:ext cx="10363200" cy="76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3800" b="1">
                <a:solidFill>
                  <a:srgbClr val="1F2A44"/>
                </a:solidFill>
                <a:latin typeface="Cambria"/>
              </a:rPr>
              <a:t>Web Scraping &amp; Product Price Analysis System</a:t>
            </a:r>
          </a:p>
        </p:txBody>
      </p:sp>
      <p:sp>
        <p:nvSpPr>
          <p:cNvPr id="1029" name="Department"/>
          <p:cNvSpPr txBox="1"/>
          <p:nvPr/>
        </p:nvSpPr>
        <p:spPr>
          <a:xfrm>
            <a:off x="1524000" y="2780000"/>
            <a:ext cx="9144000" cy="48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2200" b="1">
                <a:solidFill>
                  <a:srgbClr val="8B2E2E"/>
                </a:solidFill>
                <a:latin typeface="Cambria"/>
              </a:rPr>
              <a:t>Department of Artificial Intelligence &amp; Machine Learning</a:t>
            </a:r>
          </a:p>
        </p:txBody>
      </p:sp>
      <p:cxnSp>
        <p:nvCxnSpPr>
          <p:cNvPr id="1030" name="Divider"/>
          <p:cNvCxnSpPr/>
          <p:nvPr/>
        </p:nvCxnSpPr>
        <p:spPr>
          <a:xfrm>
            <a:off x="4500000" y="3380000"/>
            <a:ext cx="3192000" cy="0"/>
          </a:xfrm>
          <a:prstGeom prst="line">
            <a:avLst/>
          </a:prstGeom>
          <a:ln w="28575">
            <a:solidFill>
              <a:srgbClr val="F26B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1" name="Presented by"/>
          <p:cNvSpPr/>
          <p:nvPr/>
        </p:nvSpPr>
        <p:spPr>
          <a:xfrm>
            <a:off x="3124200" y="3700000"/>
            <a:ext cx="5471800" cy="175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F2B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50000" rIns="228600" bIns="100000" rtlCol="0" anchor="t"/>
          <a:lstStyle/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F26B1D"/>
                </a:solidFill>
                <a:latin typeface="Cambria"/>
              </a:rPr>
              <a:t>Presented By</a:t>
            </a:r>
          </a:p>
          <a:p>
            <a:pPr algn="l">
              <a:spcAft>
                <a:spcPts val="300"/>
              </a:spcAft>
            </a:pPr>
            <a:r>
              <a:rPr sz="1500" b="0" dirty="0">
                <a:solidFill>
                  <a:srgbClr val="1F2A44"/>
                </a:solidFill>
                <a:latin typeface="Cambria"/>
              </a:rPr>
              <a:t>G. Prem Sagar – 25B11AI344</a:t>
            </a:r>
          </a:p>
          <a:p>
            <a:pPr algn="l">
              <a:spcAft>
                <a:spcPts val="300"/>
              </a:spcAft>
            </a:pPr>
            <a:r>
              <a:rPr sz="1500" b="0" dirty="0">
                <a:solidFill>
                  <a:srgbClr val="1F2A44"/>
                </a:solidFill>
                <a:latin typeface="Cambria"/>
              </a:rPr>
              <a:t>K. Sri Durga Reddy – 2</a:t>
            </a:r>
            <a:r>
              <a:rPr lang="en-US" sz="1500" b="0" dirty="0">
                <a:solidFill>
                  <a:srgbClr val="1F2A44"/>
                </a:solidFill>
                <a:latin typeface="Cambria"/>
              </a:rPr>
              <a:t>5</a:t>
            </a:r>
            <a:r>
              <a:rPr sz="1500" b="0" dirty="0">
                <a:solidFill>
                  <a:srgbClr val="1F2A44"/>
                </a:solidFill>
                <a:latin typeface="Cambria"/>
              </a:rPr>
              <a:t>B11AI511</a:t>
            </a:r>
          </a:p>
          <a:p>
            <a:pPr algn="l">
              <a:spcAft>
                <a:spcPts val="300"/>
              </a:spcAft>
            </a:pPr>
            <a:r>
              <a:rPr sz="1500" b="0" dirty="0">
                <a:solidFill>
                  <a:srgbClr val="1F2A44"/>
                </a:solidFill>
                <a:latin typeface="Cambria"/>
              </a:rPr>
              <a:t>G. Pardhiva Sai – 2</a:t>
            </a:r>
            <a:r>
              <a:rPr lang="en-US" sz="1500" b="0" dirty="0">
                <a:solidFill>
                  <a:srgbClr val="1F2A44"/>
                </a:solidFill>
                <a:latin typeface="Cambria"/>
              </a:rPr>
              <a:t>5</a:t>
            </a:r>
            <a:r>
              <a:rPr sz="1500" b="0" dirty="0">
                <a:solidFill>
                  <a:srgbClr val="1F2A44"/>
                </a:solidFill>
                <a:latin typeface="Cambria"/>
              </a:rPr>
              <a:t>B11AI346</a:t>
            </a:r>
          </a:p>
          <a:p>
            <a:pPr algn="l">
              <a:spcAft>
                <a:spcPts val="300"/>
              </a:spcAft>
            </a:pPr>
            <a:r>
              <a:rPr sz="1500" b="0" dirty="0">
                <a:solidFill>
                  <a:srgbClr val="1F2A44"/>
                </a:solidFill>
                <a:latin typeface="Cambria"/>
              </a:rPr>
              <a:t>K. Anushka – 2</a:t>
            </a:r>
            <a:r>
              <a:rPr lang="en-US" sz="1500" b="0" dirty="0">
                <a:solidFill>
                  <a:srgbClr val="1F2A44"/>
                </a:solidFill>
                <a:latin typeface="Cambria"/>
              </a:rPr>
              <a:t>5</a:t>
            </a:r>
            <a:r>
              <a:rPr sz="1500" b="0" dirty="0">
                <a:solidFill>
                  <a:srgbClr val="1F2A44"/>
                </a:solidFill>
                <a:latin typeface="Cambria"/>
              </a:rPr>
              <a:t>B11AI535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12166B-F708-A145-B97D-09482A786ACB}"/>
              </a:ext>
            </a:extLst>
          </p:cNvPr>
          <p:cNvSpPr txBox="1"/>
          <p:nvPr/>
        </p:nvSpPr>
        <p:spPr>
          <a:xfrm>
            <a:off x="3886201" y="990600"/>
            <a:ext cx="5219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 ANALYSIS AND ESSENTIALS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50A73081-F60E-9E12-B51F-5677EE818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66542-3A31-7A37-929C-FB4B6951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  <p:sp>
        <p:nvSpPr>
          <p:cNvPr id="2051" name="Title Pill"/>
          <p:cNvSpPr/>
          <p:nvPr/>
        </p:nvSpPr>
        <p:spPr>
          <a:xfrm>
            <a:off x="2896000" y="90000"/>
            <a:ext cx="6400000" cy="560000"/>
          </a:xfrm>
          <a:prstGeom prst="roundRect">
            <a:avLst>
              <a:gd name="adj" fmla="val 18000"/>
            </a:avLst>
          </a:prstGeom>
          <a:solidFill>
            <a:srgbClr val="FF6600"/>
          </a:solidFill>
          <a:ln>
            <a:noFill/>
          </a:ln>
          <a:effectLst>
            <a:outerShdw blurRad="63500" dist="38100" dir="5400000" algn="t" rotWithShape="0">
              <a:srgbClr val="000000">
                <a:alpha val="35000"/>
              </a:srgbClr>
            </a:outerShdw>
          </a:effectLst>
        </p:spPr>
        <p:txBody>
          <a:bodyPr wrap="square" lIns="91440" tIns="0" rIns="91440" bIns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ook Antiqua"/>
                <a:ea typeface="Verdana"/>
                <a:cs typeface="Arial Unicode MS"/>
              </a:rPr>
              <a:t>AGENDA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329CAA-6D27-E8CC-7747-87BA2C71D718}"/>
              </a:ext>
            </a:extLst>
          </p:cNvPr>
          <p:cNvSpPr txBox="1"/>
          <p:nvPr/>
        </p:nvSpPr>
        <p:spPr>
          <a:xfrm>
            <a:off x="304800" y="850000"/>
            <a:ext cx="11339623" cy="5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400"/>
              </a:spcBef>
              <a:buFont typeface="Arial"/>
              <a:buChar char="•"/>
            </a:pPr>
            <a:r>
              <a:rPr lang="en-IN" sz="2600" b="0" dirty="0">
                <a:latin typeface="Times New Roman"/>
                <a:cs typeface="Times New Roman"/>
              </a:rPr>
              <a:t>Abstract</a:t>
            </a:r>
          </a:p>
          <a:p>
            <a:pPr marL="457200" indent="-457200">
              <a:spcBef>
                <a:spcPts val="400"/>
              </a:spcBef>
              <a:buFont typeface="Arial"/>
              <a:buChar char="•"/>
            </a:pPr>
            <a:r>
              <a:rPr lang="en-IN" sz="2600" b="0" dirty="0">
                <a:latin typeface="Times New Roman"/>
                <a:cs typeface="Times New Roman"/>
              </a:rPr>
              <a:t>Introduction</a:t>
            </a:r>
          </a:p>
          <a:p>
            <a:pPr marL="457200" indent="-457200">
              <a:spcBef>
                <a:spcPts val="400"/>
              </a:spcBef>
              <a:buFont typeface="Arial"/>
              <a:buChar char="•"/>
            </a:pPr>
            <a:r>
              <a:rPr lang="en-IN" sz="2600" b="0" dirty="0">
                <a:latin typeface="Times New Roman"/>
                <a:cs typeface="Times New Roman"/>
              </a:rPr>
              <a:t>Existing System &amp; Limitations</a:t>
            </a:r>
          </a:p>
          <a:p>
            <a:pPr marL="457200" indent="-457200">
              <a:spcBef>
                <a:spcPts val="400"/>
              </a:spcBef>
              <a:buFont typeface="Arial"/>
              <a:buChar char="•"/>
            </a:pPr>
            <a:r>
              <a:rPr lang="en-IN" sz="2600" b="0" dirty="0">
                <a:latin typeface="Times New Roman"/>
                <a:cs typeface="Times New Roman"/>
              </a:rPr>
              <a:t>Proposed System</a:t>
            </a:r>
          </a:p>
          <a:p>
            <a:pPr marL="457200" indent="-457200">
              <a:spcBef>
                <a:spcPts val="400"/>
              </a:spcBef>
              <a:buFont typeface="Arial"/>
              <a:buChar char="•"/>
            </a:pPr>
            <a:r>
              <a:rPr lang="en-IN" sz="2600" b="0" dirty="0">
                <a:latin typeface="Times New Roman"/>
                <a:cs typeface="Times New Roman"/>
              </a:rPr>
              <a:t>Problem Statement &amp; Objectives</a:t>
            </a:r>
          </a:p>
          <a:p>
            <a:pPr marL="457200" indent="-457200">
              <a:spcBef>
                <a:spcPts val="400"/>
              </a:spcBef>
              <a:buFont typeface="Arial"/>
              <a:buChar char="•"/>
            </a:pPr>
            <a:r>
              <a:rPr lang="en-IN" sz="2600" b="0" dirty="0">
                <a:latin typeface="Times New Roman"/>
                <a:cs typeface="Times New Roman"/>
              </a:rPr>
              <a:t>Dataset Description</a:t>
            </a:r>
          </a:p>
          <a:p>
            <a:pPr marL="457200" indent="-457200">
              <a:spcBef>
                <a:spcPts val="400"/>
              </a:spcBef>
              <a:buFont typeface="Arial"/>
              <a:buChar char="•"/>
            </a:pPr>
            <a:r>
              <a:rPr lang="en-IN" sz="2600" b="0" dirty="0">
                <a:latin typeface="Times New Roman"/>
                <a:cs typeface="Times New Roman"/>
              </a:rPr>
              <a:t>Requirements &amp; Workflow</a:t>
            </a:r>
          </a:p>
          <a:p>
            <a:pPr marL="457200" indent="-457200">
              <a:spcBef>
                <a:spcPts val="400"/>
              </a:spcBef>
              <a:buFont typeface="Arial"/>
              <a:buChar char="•"/>
            </a:pPr>
            <a:r>
              <a:rPr lang="en-IN" sz="2600" b="0" dirty="0">
                <a:latin typeface="Times New Roman"/>
                <a:cs typeface="Times New Roman"/>
              </a:rPr>
              <a:t>Methodology</a:t>
            </a:r>
          </a:p>
          <a:p>
            <a:pPr marL="457200" indent="-457200">
              <a:spcBef>
                <a:spcPts val="400"/>
              </a:spcBef>
              <a:buFont typeface="Arial"/>
              <a:buChar char="•"/>
            </a:pPr>
            <a:r>
              <a:rPr lang="en-IN" sz="2600" b="0" dirty="0">
                <a:latin typeface="Times New Roman"/>
                <a:cs typeface="Times New Roman"/>
              </a:rPr>
              <a:t>Output Screenshots</a:t>
            </a:r>
          </a:p>
          <a:p>
            <a:pPr marL="457200" indent="-457200">
              <a:spcBef>
                <a:spcPts val="400"/>
              </a:spcBef>
              <a:buFont typeface="Arial"/>
              <a:buChar char="•"/>
            </a:pPr>
            <a:r>
              <a:rPr lang="en-IN" sz="2600" b="0" dirty="0">
                <a:latin typeface="Times New Roman"/>
                <a:cs typeface="Times New Roman"/>
              </a:rPr>
              <a:t>Limitations &amp; Future Scope</a:t>
            </a:r>
          </a:p>
          <a:p>
            <a:pPr marL="457200" indent="-457200">
              <a:spcBef>
                <a:spcPts val="400"/>
              </a:spcBef>
              <a:buFont typeface="Arial"/>
              <a:buChar char="•"/>
            </a:pPr>
            <a:r>
              <a:rPr lang="en-IN" sz="2600" b="0" dirty="0">
                <a:latin typeface="Times New Roman"/>
                <a:cs typeface="Times New Roman"/>
              </a:rPr>
              <a:t>Conclusion &amp; References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2CAE2E7-9ABB-DA77-F712-97BF6E18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October 2026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50A73081-F60E-9E12-B51F-5677EE818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66542-3A31-7A37-929C-FB4B6951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  <p:sp>
        <p:nvSpPr>
          <p:cNvPr id="2051" name="Title Pill"/>
          <p:cNvSpPr/>
          <p:nvPr/>
        </p:nvSpPr>
        <p:spPr>
          <a:xfrm>
            <a:off x="2896000" y="90000"/>
            <a:ext cx="6400000" cy="560000"/>
          </a:xfrm>
          <a:prstGeom prst="roundRect">
            <a:avLst>
              <a:gd name="adj" fmla="val 18000"/>
            </a:avLst>
          </a:prstGeom>
          <a:solidFill>
            <a:srgbClr val="FF6600"/>
          </a:solidFill>
          <a:ln>
            <a:noFill/>
          </a:ln>
          <a:effectLst>
            <a:outerShdw blurRad="63500" dist="38100" dir="5400000" algn="t" rotWithShape="0">
              <a:srgbClr val="000000">
                <a:alpha val="35000"/>
              </a:srgbClr>
            </a:outerShdw>
          </a:effectLst>
        </p:spPr>
        <p:txBody>
          <a:bodyPr wrap="square" lIns="91440" tIns="0" rIns="91440" bIns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ook Antiqua"/>
                <a:ea typeface="Verdana"/>
                <a:cs typeface="Arial Unicode MS"/>
              </a:rPr>
              <a:t>ABSTRACT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329CAA-6D27-E8CC-7747-87BA2C71D718}"/>
              </a:ext>
            </a:extLst>
          </p:cNvPr>
          <p:cNvSpPr txBox="1"/>
          <p:nvPr/>
        </p:nvSpPr>
        <p:spPr>
          <a:xfrm>
            <a:off x="304800" y="1100000"/>
            <a:ext cx="11339623" cy="5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en-IN" sz="2800" b="0" dirty="0">
                <a:latin typeface="Times New Roman"/>
                <a:cs typeface="Times New Roman"/>
              </a:rPr>
              <a:t>The </a:t>
            </a:r>
            <a:r>
              <a:rPr lang="en-IN" sz="2800" b="1" dirty="0">
                <a:latin typeface="Times New Roman"/>
                <a:cs typeface="Times New Roman"/>
              </a:rPr>
              <a:t>Web Scraping &amp; Product Price Analysis System</a:t>
            </a:r>
            <a:r>
              <a:rPr lang="en-IN" sz="2800" b="0" dirty="0">
                <a:latin typeface="Times New Roman"/>
                <a:cs typeface="Times New Roman"/>
              </a:rPr>
              <a:t> is a Python-based data analytics project. It collects </a:t>
            </a:r>
            <a:r>
              <a:rPr lang="en-IN" sz="2800" b="1" dirty="0">
                <a:latin typeface="Times New Roman"/>
                <a:cs typeface="Times New Roman"/>
              </a:rPr>
              <a:t>product names, prices and ratings</a:t>
            </a:r>
            <a:r>
              <a:rPr lang="en-IN" sz="2800" b="0" dirty="0">
                <a:latin typeface="Times New Roman"/>
                <a:cs typeface="Times New Roman"/>
              </a:rPr>
              <a:t> from the Books to Scrape practice website using </a:t>
            </a:r>
            <a:r>
              <a:rPr lang="en-IN" sz="2800" b="1" dirty="0">
                <a:latin typeface="Times New Roman"/>
                <a:cs typeface="Times New Roman"/>
              </a:rPr>
              <a:t>BeautifulSoup</a:t>
            </a:r>
            <a:r>
              <a:rPr lang="en-IN" sz="2800" b="0" dirty="0">
                <a:latin typeface="Times New Roman"/>
                <a:cs typeface="Times New Roman"/>
              </a:rPr>
              <a:t>.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IN" sz="2800" b="0" dirty="0">
                <a:latin typeface="Times New Roman"/>
                <a:cs typeface="Times New Roman"/>
              </a:rPr>
              <a:t>The extracted data is </a:t>
            </a:r>
            <a:r>
              <a:rPr lang="en-IN" sz="2800" b="1" dirty="0">
                <a:latin typeface="Times New Roman"/>
                <a:cs typeface="Times New Roman"/>
              </a:rPr>
              <a:t>cleaned and structured using Pandas</a:t>
            </a:r>
            <a:r>
              <a:rPr lang="en-IN" sz="2800" b="0" dirty="0">
                <a:latin typeface="Times New Roman"/>
                <a:cs typeface="Times New Roman"/>
              </a:rPr>
              <a:t>, stored in </a:t>
            </a:r>
            <a:r>
              <a:rPr lang="en-IN" sz="2800" b="1" dirty="0">
                <a:latin typeface="Times New Roman"/>
                <a:cs typeface="Times New Roman"/>
              </a:rPr>
              <a:t>CSV</a:t>
            </a:r>
            <a:r>
              <a:rPr lang="en-IN" sz="2800" b="0" dirty="0">
                <a:latin typeface="Times New Roman"/>
                <a:cs typeface="Times New Roman"/>
              </a:rPr>
              <a:t> format, and analyzed for </a:t>
            </a:r>
            <a:r>
              <a:rPr lang="en-IN" sz="2800" b="1" dirty="0">
                <a:latin typeface="Times New Roman"/>
                <a:cs typeface="Times New Roman"/>
              </a:rPr>
              <a:t>price and rating patterns</a:t>
            </a:r>
            <a:r>
              <a:rPr lang="en-IN" sz="2800" b="0" dirty="0">
                <a:latin typeface="Times New Roman"/>
                <a:cs typeface="Times New Roman"/>
              </a:rPr>
              <a:t>.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IN" sz="2800" b="0" dirty="0">
                <a:latin typeface="Times New Roman"/>
                <a:cs typeface="Times New Roman"/>
              </a:rPr>
              <a:t>Results are </a:t>
            </a:r>
            <a:r>
              <a:rPr lang="en-IN" sz="2800" b="1" dirty="0">
                <a:latin typeface="Times New Roman"/>
                <a:cs typeface="Times New Roman"/>
              </a:rPr>
              <a:t>visualized using Matplotlib</a:t>
            </a:r>
            <a:r>
              <a:rPr lang="en-IN" sz="2800" b="0" dirty="0">
                <a:latin typeface="Times New Roman"/>
                <a:cs typeface="Times New Roman"/>
              </a:rPr>
              <a:t> and presented through a </a:t>
            </a:r>
            <a:r>
              <a:rPr lang="en-IN" sz="2800" b="1" dirty="0">
                <a:latin typeface="Times New Roman"/>
                <a:cs typeface="Times New Roman"/>
              </a:rPr>
              <a:t>Flask web interface</a:t>
            </a:r>
            <a:r>
              <a:rPr lang="en-IN" sz="2800" b="0" dirty="0">
                <a:latin typeface="Times New Roman"/>
                <a:cs typeface="Times New Roman"/>
              </a:rPr>
              <a:t> that displays the products and analysis results.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2CAE2E7-9ABB-DA77-F712-97BF6E18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October 2026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50A73081-F60E-9E12-B51F-5677EE818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66542-3A31-7A37-929C-FB4B6951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  <p:sp>
        <p:nvSpPr>
          <p:cNvPr id="2051" name="Title Pill"/>
          <p:cNvSpPr/>
          <p:nvPr/>
        </p:nvSpPr>
        <p:spPr>
          <a:xfrm>
            <a:off x="2896000" y="90000"/>
            <a:ext cx="6400000" cy="560000"/>
          </a:xfrm>
          <a:prstGeom prst="roundRect">
            <a:avLst>
              <a:gd name="adj" fmla="val 18000"/>
            </a:avLst>
          </a:prstGeom>
          <a:solidFill>
            <a:srgbClr val="FF6600"/>
          </a:solidFill>
          <a:ln>
            <a:noFill/>
          </a:ln>
          <a:effectLst>
            <a:outerShdw blurRad="63500" dist="38100" dir="5400000" algn="t" rotWithShape="0">
              <a:srgbClr val="000000">
                <a:alpha val="35000"/>
              </a:srgbClr>
            </a:outerShdw>
          </a:effectLst>
        </p:spPr>
        <p:txBody>
          <a:bodyPr wrap="square" lIns="91440" tIns="0" rIns="91440" bIns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ook Antiqua"/>
                <a:ea typeface="Verdana"/>
                <a:cs typeface="Arial Unicode MS"/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329CAA-6D27-E8CC-7747-87BA2C71D718}"/>
              </a:ext>
            </a:extLst>
          </p:cNvPr>
          <p:cNvSpPr txBox="1"/>
          <p:nvPr/>
        </p:nvSpPr>
        <p:spPr>
          <a:xfrm>
            <a:off x="304800" y="900000"/>
            <a:ext cx="11339623" cy="5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n-IN" sz="2700" b="0" dirty="0">
                <a:latin typeface="Times New Roman"/>
                <a:cs typeface="Times New Roman"/>
              </a:rPr>
              <a:t>Product information on web pages is available as </a:t>
            </a:r>
            <a:r>
              <a:rPr lang="en-IN" sz="2700" b="1" dirty="0">
                <a:latin typeface="Times New Roman"/>
                <a:cs typeface="Times New Roman"/>
              </a:rPr>
              <a:t>semi-structured HTML data</a:t>
            </a:r>
            <a:r>
              <a:rPr lang="en-IN" sz="2700" b="0" dirty="0">
                <a:latin typeface="Times New Roman"/>
                <a:cs typeface="Times New Roman"/>
              </a:rPr>
              <a:t>.</a:t>
            </a:r>
          </a:p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n-IN" sz="2700" b="0" dirty="0">
                <a:latin typeface="Times New Roman"/>
                <a:cs typeface="Times New Roman"/>
              </a:rPr>
              <a:t>Manually collecting names, prices and ratings is </a:t>
            </a:r>
            <a:r>
              <a:rPr lang="en-IN" sz="2700" b="1" dirty="0">
                <a:latin typeface="Times New Roman"/>
                <a:cs typeface="Times New Roman"/>
              </a:rPr>
              <a:t>repetitive and inefficient</a:t>
            </a:r>
            <a:r>
              <a:rPr lang="en-IN" sz="2700" b="0" dirty="0">
                <a:latin typeface="Times New Roman"/>
                <a:cs typeface="Times New Roman"/>
              </a:rPr>
              <a:t>.</a:t>
            </a:r>
          </a:p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n-IN" sz="2700" b="0" dirty="0">
                <a:latin typeface="Times New Roman"/>
                <a:cs typeface="Times New Roman"/>
              </a:rPr>
              <a:t>Raw scraped information needs </a:t>
            </a:r>
            <a:r>
              <a:rPr lang="en-IN" sz="2700" b="1" dirty="0">
                <a:latin typeface="Times New Roman"/>
                <a:cs typeface="Times New Roman"/>
              </a:rPr>
              <a:t>cleaning and structuring</a:t>
            </a:r>
            <a:r>
              <a:rPr lang="en-IN" sz="2700" b="0" dirty="0">
                <a:latin typeface="Times New Roman"/>
                <a:cs typeface="Times New Roman"/>
              </a:rPr>
              <a:t> before analysis.</a:t>
            </a:r>
          </a:p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n-IN" sz="2700" b="0" dirty="0">
                <a:latin typeface="Times New Roman"/>
                <a:cs typeface="Times New Roman"/>
              </a:rPr>
              <a:t>Price and rating comparisons are </a:t>
            </a:r>
            <a:r>
              <a:rPr lang="en-IN" sz="2700" b="1" dirty="0">
                <a:latin typeface="Times New Roman"/>
                <a:cs typeface="Times New Roman"/>
              </a:rPr>
              <a:t>difficult to perform directly</a:t>
            </a:r>
            <a:r>
              <a:rPr lang="en-IN" sz="2700" b="0" dirty="0">
                <a:latin typeface="Times New Roman"/>
                <a:cs typeface="Times New Roman"/>
              </a:rPr>
              <a:t> from web pages.</a:t>
            </a:r>
          </a:p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n-IN" sz="2700" b="0" dirty="0">
                <a:latin typeface="Times New Roman"/>
                <a:cs typeface="Times New Roman"/>
              </a:rPr>
              <a:t>A simple </a:t>
            </a:r>
            <a:r>
              <a:rPr lang="en-IN" sz="2700" b="1" dirty="0">
                <a:latin typeface="Times New Roman"/>
                <a:cs typeface="Times New Roman"/>
              </a:rPr>
              <a:t>automated pipeline</a:t>
            </a:r>
            <a:r>
              <a:rPr lang="en-IN" sz="2700" b="0" dirty="0">
                <a:latin typeface="Times New Roman"/>
                <a:cs typeface="Times New Roman"/>
              </a:rPr>
              <a:t> can convert web data into analysis-ready records.</a:t>
            </a:r>
          </a:p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n-IN" sz="2700" b="0" dirty="0">
                <a:latin typeface="Times New Roman"/>
                <a:cs typeface="Times New Roman"/>
              </a:rPr>
              <a:t>The project connects </a:t>
            </a:r>
            <a:r>
              <a:rPr lang="en-IN" sz="2700" b="1" dirty="0">
                <a:latin typeface="Times New Roman"/>
                <a:cs typeface="Times New Roman"/>
              </a:rPr>
              <a:t>scraping, preprocessing, analysis, visualization and web presentation</a:t>
            </a:r>
            <a:r>
              <a:rPr lang="en-IN" sz="2700" b="0" dirty="0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2CAE2E7-9ABB-DA77-F712-97BF6E18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October 2026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50A73081-F60E-9E12-B51F-5677EE818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66542-3A31-7A37-929C-FB4B6951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  <p:sp>
        <p:nvSpPr>
          <p:cNvPr id="2051" name="Title Pill"/>
          <p:cNvSpPr/>
          <p:nvPr/>
        </p:nvSpPr>
        <p:spPr>
          <a:xfrm>
            <a:off x="2896000" y="90000"/>
            <a:ext cx="6400000" cy="560000"/>
          </a:xfrm>
          <a:prstGeom prst="roundRect">
            <a:avLst>
              <a:gd name="adj" fmla="val 18000"/>
            </a:avLst>
          </a:prstGeom>
          <a:solidFill>
            <a:srgbClr val="FF6600"/>
          </a:solidFill>
          <a:ln>
            <a:noFill/>
          </a:ln>
          <a:effectLst>
            <a:outerShdw blurRad="63500" dist="38100" dir="5400000" algn="t" rotWithShape="0">
              <a:srgbClr val="000000">
                <a:alpha val="35000"/>
              </a:srgbClr>
            </a:outerShdw>
          </a:effectLst>
        </p:spPr>
        <p:txBody>
          <a:bodyPr wrap="square" lIns="91440" tIns="0" rIns="91440" bIns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ook Antiqua"/>
                <a:ea typeface="Verdana"/>
                <a:cs typeface="Arial Unicode MS"/>
              </a:rPr>
              <a:t>EXISTING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329CAA-6D27-E8CC-7747-87BA2C71D718}"/>
              </a:ext>
            </a:extLst>
          </p:cNvPr>
          <p:cNvSpPr txBox="1"/>
          <p:nvPr/>
        </p:nvSpPr>
        <p:spPr>
          <a:xfrm>
            <a:off x="304800" y="900000"/>
            <a:ext cx="11339623" cy="5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n-IN" sz="3000" b="0" dirty="0">
                <a:latin typeface="Times New Roman"/>
                <a:cs typeface="Times New Roman"/>
              </a:rPr>
              <a:t>Product information is collected </a:t>
            </a:r>
            <a:r>
              <a:rPr lang="en-IN" sz="3000" b="1" dirty="0">
                <a:latin typeface="Times New Roman"/>
                <a:cs typeface="Times New Roman"/>
              </a:rPr>
              <a:t>manually</a:t>
            </a:r>
            <a:r>
              <a:rPr lang="en-IN" sz="3000" b="0" dirty="0">
                <a:latin typeface="Times New Roman"/>
                <a:cs typeface="Times New Roman"/>
              </a:rPr>
              <a:t> or viewed directly from web pages.</a:t>
            </a:r>
          </a:p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n-IN" sz="3000" b="0" dirty="0">
                <a:latin typeface="Times New Roman"/>
                <a:cs typeface="Times New Roman"/>
              </a:rPr>
              <a:t>Raw webpage data is </a:t>
            </a:r>
            <a:r>
              <a:rPr lang="en-IN" sz="3000" b="1" dirty="0">
                <a:latin typeface="Times New Roman"/>
                <a:cs typeface="Times New Roman"/>
              </a:rPr>
              <a:t>not immediately suitable</a:t>
            </a:r>
            <a:r>
              <a:rPr lang="en-IN" sz="3000" b="0" dirty="0">
                <a:latin typeface="Times New Roman"/>
                <a:cs typeface="Times New Roman"/>
              </a:rPr>
              <a:t> for analysis.</a:t>
            </a:r>
          </a:p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n-IN" sz="3000" b="0" dirty="0">
                <a:latin typeface="Times New Roman"/>
                <a:cs typeface="Times New Roman"/>
              </a:rPr>
              <a:t>Name, price and rating appear as </a:t>
            </a:r>
            <a:r>
              <a:rPr lang="en-IN" sz="3000" b="1" dirty="0">
                <a:latin typeface="Times New Roman"/>
                <a:cs typeface="Times New Roman"/>
              </a:rPr>
              <a:t>separate HTML elements</a:t>
            </a:r>
            <a:r>
              <a:rPr lang="en-IN" sz="3000" b="0" dirty="0">
                <a:latin typeface="Times New Roman"/>
                <a:cs typeface="Times New Roman"/>
              </a:rPr>
              <a:t>.</a:t>
            </a:r>
          </a:p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n-IN" sz="3000" b="0" dirty="0">
                <a:latin typeface="Times New Roman"/>
                <a:cs typeface="Times New Roman"/>
              </a:rPr>
              <a:t>Comparing multiple products requires </a:t>
            </a:r>
            <a:r>
              <a:rPr lang="en-IN" sz="3000" b="1" dirty="0">
                <a:latin typeface="Times New Roman"/>
                <a:cs typeface="Times New Roman"/>
              </a:rPr>
              <a:t>repeated manual effort</a:t>
            </a:r>
            <a:r>
              <a:rPr lang="en-IN" sz="3000" b="0" dirty="0">
                <a:latin typeface="Times New Roman"/>
                <a:cs typeface="Times New Roman"/>
              </a:rPr>
              <a:t>.</a:t>
            </a:r>
          </a:p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n-IN" sz="3000" b="0" dirty="0">
                <a:latin typeface="Times New Roman"/>
                <a:cs typeface="Times New Roman"/>
              </a:rPr>
              <a:t>Data must be </a:t>
            </a:r>
            <a:r>
              <a:rPr lang="en-IN" sz="3000" b="1" dirty="0">
                <a:latin typeface="Times New Roman"/>
                <a:cs typeface="Times New Roman"/>
              </a:rPr>
              <a:t>cleaned and converted</a:t>
            </a:r>
            <a:r>
              <a:rPr lang="en-IN" sz="3000" b="0" dirty="0">
                <a:latin typeface="Times New Roman"/>
                <a:cs typeface="Times New Roman"/>
              </a:rPr>
              <a:t> into proper numeric fields.</a:t>
            </a:r>
          </a:p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n-IN" sz="3000" b="0" dirty="0">
                <a:latin typeface="Times New Roman"/>
                <a:cs typeface="Times New Roman"/>
              </a:rPr>
              <a:t>Results are harder to understand </a:t>
            </a:r>
            <a:r>
              <a:rPr lang="en-IN" sz="3000" b="1" dirty="0">
                <a:latin typeface="Times New Roman"/>
                <a:cs typeface="Times New Roman"/>
              </a:rPr>
              <a:t>without tables and visualizations</a:t>
            </a:r>
            <a:r>
              <a:rPr lang="en-IN" sz="3000" b="0" dirty="0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2CAE2E7-9ABB-DA77-F712-97BF6E18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October 2026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50A73081-F60E-9E12-B51F-5677EE818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66542-3A31-7A37-929C-FB4B6951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  <p:sp>
        <p:nvSpPr>
          <p:cNvPr id="2051" name="Title Pill"/>
          <p:cNvSpPr/>
          <p:nvPr/>
        </p:nvSpPr>
        <p:spPr>
          <a:xfrm>
            <a:off x="2896000" y="90000"/>
            <a:ext cx="6400000" cy="560000"/>
          </a:xfrm>
          <a:prstGeom prst="roundRect">
            <a:avLst>
              <a:gd name="adj" fmla="val 18000"/>
            </a:avLst>
          </a:prstGeom>
          <a:solidFill>
            <a:srgbClr val="FF6600"/>
          </a:solidFill>
          <a:ln>
            <a:noFill/>
          </a:ln>
          <a:effectLst>
            <a:outerShdw blurRad="63500" dist="38100" dir="5400000" algn="t" rotWithShape="0">
              <a:srgbClr val="000000">
                <a:alpha val="35000"/>
              </a:srgbClr>
            </a:outerShdw>
          </a:effectLst>
        </p:spPr>
        <p:txBody>
          <a:bodyPr wrap="square" lIns="91440" tIns="0" rIns="91440" bIns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ook Antiqua"/>
                <a:ea typeface="Verdana"/>
                <a:cs typeface="Arial Unicode MS"/>
              </a:rPr>
              <a:t>LIMITATIONS OF EXISTING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329CAA-6D27-E8CC-7747-87BA2C71D718}"/>
              </a:ext>
            </a:extLst>
          </p:cNvPr>
          <p:cNvSpPr txBox="1"/>
          <p:nvPr/>
        </p:nvSpPr>
        <p:spPr>
          <a:xfrm>
            <a:off x="304800" y="900000"/>
            <a:ext cx="11339623" cy="5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buFont typeface="Arial"/>
              <a:buChar char="•"/>
            </a:pPr>
            <a:r>
              <a:rPr lang="en-IN" sz="2800" b="0" dirty="0">
                <a:latin typeface="Times New Roman"/>
                <a:cs typeface="Times New Roman"/>
              </a:rPr>
              <a:t>Manual collection of product data is </a:t>
            </a:r>
            <a:r>
              <a:rPr lang="en-IN" sz="2800" b="1" dirty="0">
                <a:latin typeface="Times New Roman"/>
                <a:cs typeface="Times New Roman"/>
              </a:rPr>
              <a:t>time-consuming</a:t>
            </a:r>
            <a:r>
              <a:rPr lang="en-IN" sz="2800" b="0" dirty="0">
                <a:latin typeface="Times New Roman"/>
                <a:cs typeface="Times New Roman"/>
              </a:rPr>
              <a:t>.</a:t>
            </a:r>
          </a:p>
          <a:p>
            <a:pPr marL="457200" indent="-457200">
              <a:spcBef>
                <a:spcPts val="600"/>
              </a:spcBef>
              <a:buFont typeface="Arial"/>
              <a:buChar char="•"/>
            </a:pPr>
            <a:r>
              <a:rPr lang="en-IN" sz="2800" b="0" dirty="0">
                <a:latin typeface="Times New Roman"/>
                <a:cs typeface="Times New Roman"/>
              </a:rPr>
              <a:t>Repeated copying can introduce </a:t>
            </a:r>
            <a:r>
              <a:rPr lang="en-IN" sz="2800" b="1" dirty="0">
                <a:latin typeface="Times New Roman"/>
                <a:cs typeface="Times New Roman"/>
              </a:rPr>
              <a:t>data-entry errors</a:t>
            </a:r>
            <a:r>
              <a:rPr lang="en-IN" sz="2800" b="0" dirty="0">
                <a:latin typeface="Times New Roman"/>
                <a:cs typeface="Times New Roman"/>
              </a:rPr>
              <a:t>.</a:t>
            </a:r>
          </a:p>
          <a:p>
            <a:pPr marL="457200" indent="-457200">
              <a:spcBef>
                <a:spcPts val="600"/>
              </a:spcBef>
              <a:buFont typeface="Arial"/>
              <a:buChar char="•"/>
            </a:pPr>
            <a:r>
              <a:rPr lang="en-IN" sz="2800" b="0" dirty="0">
                <a:latin typeface="Times New Roman"/>
                <a:cs typeface="Times New Roman"/>
              </a:rPr>
              <a:t>Raw HTML content needs </a:t>
            </a:r>
            <a:r>
              <a:rPr lang="en-IN" sz="2800" b="1" dirty="0">
                <a:latin typeface="Times New Roman"/>
                <a:cs typeface="Times New Roman"/>
              </a:rPr>
              <a:t>preprocessing</a:t>
            </a:r>
            <a:r>
              <a:rPr lang="en-IN" sz="2800" b="0" dirty="0">
                <a:latin typeface="Times New Roman"/>
                <a:cs typeface="Times New Roman"/>
              </a:rPr>
              <a:t> before analysis.</a:t>
            </a:r>
          </a:p>
          <a:p>
            <a:pPr marL="457200" indent="-457200">
              <a:spcBef>
                <a:spcPts val="600"/>
              </a:spcBef>
              <a:buFont typeface="Arial"/>
              <a:buChar char="•"/>
            </a:pPr>
            <a:r>
              <a:rPr lang="en-IN" sz="2800" b="1" dirty="0">
                <a:latin typeface="Times New Roman"/>
                <a:cs typeface="Times New Roman"/>
              </a:rPr>
              <a:t>Missing or inconsistent values</a:t>
            </a:r>
            <a:r>
              <a:rPr lang="en-IN" sz="2800" b="0" dirty="0">
                <a:latin typeface="Times New Roman"/>
                <a:cs typeface="Times New Roman"/>
              </a:rPr>
              <a:t> may affect the final dataset.</a:t>
            </a:r>
          </a:p>
          <a:p>
            <a:pPr marL="457200" indent="-457200">
              <a:spcBef>
                <a:spcPts val="600"/>
              </a:spcBef>
              <a:buFont typeface="Arial"/>
              <a:buChar char="•"/>
            </a:pPr>
            <a:r>
              <a:rPr lang="en-IN" sz="2800" b="0" dirty="0">
                <a:latin typeface="Times New Roman"/>
                <a:cs typeface="Times New Roman"/>
              </a:rPr>
              <a:t>Price and rating relationships are </a:t>
            </a:r>
            <a:r>
              <a:rPr lang="en-IN" sz="2800" b="1" dirty="0">
                <a:latin typeface="Times New Roman"/>
                <a:cs typeface="Times New Roman"/>
              </a:rPr>
              <a:t>difficult to inspect</a:t>
            </a:r>
            <a:r>
              <a:rPr lang="en-IN" sz="2800" b="0" dirty="0">
                <a:latin typeface="Times New Roman"/>
                <a:cs typeface="Times New Roman"/>
              </a:rPr>
              <a:t> manually.</a:t>
            </a:r>
          </a:p>
          <a:p>
            <a:pPr marL="457200" indent="-457200">
              <a:spcBef>
                <a:spcPts val="600"/>
              </a:spcBef>
              <a:buFont typeface="Arial"/>
              <a:buChar char="•"/>
            </a:pPr>
            <a:r>
              <a:rPr lang="en-IN" sz="2800" b="0" dirty="0">
                <a:latin typeface="Times New Roman"/>
                <a:cs typeface="Times New Roman"/>
              </a:rPr>
              <a:t>Changes in web-page structure may </a:t>
            </a:r>
            <a:r>
              <a:rPr lang="en-IN" sz="2800" b="1" dirty="0">
                <a:latin typeface="Times New Roman"/>
                <a:cs typeface="Times New Roman"/>
              </a:rPr>
              <a:t>break scraping selectors</a:t>
            </a:r>
            <a:r>
              <a:rPr lang="en-IN" sz="2800" b="0" dirty="0">
                <a:latin typeface="Times New Roman"/>
                <a:cs typeface="Times New Roman"/>
              </a:rPr>
              <a:t>.</a:t>
            </a:r>
          </a:p>
          <a:p>
            <a:pPr marL="457200" indent="-457200">
              <a:spcBef>
                <a:spcPts val="600"/>
              </a:spcBef>
              <a:buFont typeface="Arial"/>
              <a:buChar char="•"/>
            </a:pPr>
            <a:r>
              <a:rPr lang="en-IN" sz="2800" b="0" dirty="0">
                <a:latin typeface="Times New Roman"/>
                <a:cs typeface="Times New Roman"/>
              </a:rPr>
              <a:t>Without visualization, extracted data is </a:t>
            </a:r>
            <a:r>
              <a:rPr lang="en-IN" sz="2800" b="1" dirty="0">
                <a:latin typeface="Times New Roman"/>
                <a:cs typeface="Times New Roman"/>
              </a:rPr>
              <a:t>less useful</a:t>
            </a:r>
            <a:r>
              <a:rPr lang="en-IN" sz="2800" b="0" dirty="0">
                <a:latin typeface="Times New Roman"/>
                <a:cs typeface="Times New Roman"/>
              </a:rPr>
              <a:t> for quick comparison.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2CAE2E7-9ABB-DA77-F712-97BF6E18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October 2026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50A73081-F60E-9E12-B51F-5677EE818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66542-3A31-7A37-929C-FB4B6951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  <p:sp>
        <p:nvSpPr>
          <p:cNvPr id="2051" name="Title Pill"/>
          <p:cNvSpPr/>
          <p:nvPr/>
        </p:nvSpPr>
        <p:spPr>
          <a:xfrm>
            <a:off x="2896000" y="90000"/>
            <a:ext cx="6400000" cy="560000"/>
          </a:xfrm>
          <a:prstGeom prst="roundRect">
            <a:avLst>
              <a:gd name="adj" fmla="val 18000"/>
            </a:avLst>
          </a:prstGeom>
          <a:solidFill>
            <a:srgbClr val="FF6600"/>
          </a:solidFill>
          <a:ln>
            <a:noFill/>
          </a:ln>
          <a:effectLst>
            <a:outerShdw blurRad="63500" dist="38100" dir="5400000" algn="t" rotWithShape="0">
              <a:srgbClr val="000000">
                <a:alpha val="35000"/>
              </a:srgbClr>
            </a:outerShdw>
          </a:effectLst>
        </p:spPr>
        <p:txBody>
          <a:bodyPr wrap="square" lIns="91440" tIns="0" rIns="91440" bIns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ook Antiqua"/>
                <a:ea typeface="Verdana"/>
                <a:cs typeface="Arial Unicode MS"/>
              </a:rPr>
              <a:t>PROPOSED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329CAA-6D27-E8CC-7747-87BA2C71D718}"/>
              </a:ext>
            </a:extLst>
          </p:cNvPr>
          <p:cNvSpPr txBox="1"/>
          <p:nvPr/>
        </p:nvSpPr>
        <p:spPr>
          <a:xfrm>
            <a:off x="304800" y="900000"/>
            <a:ext cx="11339623" cy="5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buFont typeface="Arial"/>
              <a:buChar char="•"/>
            </a:pPr>
            <a:r>
              <a:rPr lang="en-IN" sz="2800" b="0" dirty="0">
                <a:latin typeface="Times New Roman"/>
                <a:cs typeface="Times New Roman"/>
              </a:rPr>
              <a:t>Scrape product </a:t>
            </a:r>
            <a:r>
              <a:rPr lang="en-IN" sz="2800" b="1" dirty="0">
                <a:latin typeface="Times New Roman"/>
                <a:cs typeface="Times New Roman"/>
              </a:rPr>
              <a:t>name, price and rating</a:t>
            </a:r>
            <a:r>
              <a:rPr lang="en-IN" sz="2800" b="0" dirty="0">
                <a:latin typeface="Times New Roman"/>
                <a:cs typeface="Times New Roman"/>
              </a:rPr>
              <a:t> using </a:t>
            </a:r>
            <a:r>
              <a:rPr lang="en-IN" sz="2800" b="1" dirty="0">
                <a:latin typeface="Times New Roman"/>
                <a:cs typeface="Times New Roman"/>
              </a:rPr>
              <a:t>BeautifulSoup</a:t>
            </a:r>
            <a:r>
              <a:rPr lang="en-IN" sz="2800" b="0" dirty="0">
                <a:latin typeface="Times New Roman"/>
                <a:cs typeface="Times New Roman"/>
              </a:rPr>
              <a:t>.</a:t>
            </a:r>
          </a:p>
          <a:p>
            <a:pPr marL="457200" indent="-457200">
              <a:spcBef>
                <a:spcPts val="600"/>
              </a:spcBef>
              <a:buFont typeface="Arial"/>
              <a:buChar char="•"/>
            </a:pPr>
            <a:r>
              <a:rPr lang="en-IN" sz="2800" b="0" dirty="0">
                <a:latin typeface="Times New Roman"/>
                <a:cs typeface="Times New Roman"/>
              </a:rPr>
              <a:t>Store extracted records in a </a:t>
            </a:r>
            <a:r>
              <a:rPr lang="en-IN" sz="2800" b="1" dirty="0">
                <a:latin typeface="Times New Roman"/>
                <a:cs typeface="Times New Roman"/>
              </a:rPr>
              <a:t>Pandas DataFrame</a:t>
            </a:r>
            <a:r>
              <a:rPr lang="en-IN" sz="2800" b="0" dirty="0">
                <a:latin typeface="Times New Roman"/>
                <a:cs typeface="Times New Roman"/>
              </a:rPr>
              <a:t> and </a:t>
            </a:r>
            <a:r>
              <a:rPr lang="en-IN" sz="2800" b="1" dirty="0">
                <a:latin typeface="Times New Roman"/>
                <a:cs typeface="Times New Roman"/>
              </a:rPr>
              <a:t>CSV file</a:t>
            </a:r>
            <a:r>
              <a:rPr lang="en-IN" sz="2800" b="0" dirty="0">
                <a:latin typeface="Times New Roman"/>
                <a:cs typeface="Times New Roman"/>
              </a:rPr>
              <a:t>.</a:t>
            </a:r>
          </a:p>
          <a:p>
            <a:pPr marL="457200" indent="-457200">
              <a:spcBef>
                <a:spcPts val="600"/>
              </a:spcBef>
              <a:buFont typeface="Arial"/>
              <a:buChar char="•"/>
            </a:pPr>
            <a:r>
              <a:rPr lang="en-IN" sz="2800" b="1" dirty="0">
                <a:latin typeface="Times New Roman"/>
                <a:cs typeface="Times New Roman"/>
              </a:rPr>
              <a:t>Clean and normalize</a:t>
            </a:r>
            <a:r>
              <a:rPr lang="en-IN" sz="2800" b="0" dirty="0">
                <a:latin typeface="Times New Roman"/>
                <a:cs typeface="Times New Roman"/>
              </a:rPr>
              <a:t> text and numeric fields.</a:t>
            </a:r>
          </a:p>
          <a:p>
            <a:pPr marL="457200" indent="-457200">
              <a:spcBef>
                <a:spcPts val="600"/>
              </a:spcBef>
              <a:buFont typeface="Arial"/>
              <a:buChar char="•"/>
            </a:pPr>
            <a:r>
              <a:rPr lang="en-IN" sz="2800" b="0" dirty="0">
                <a:latin typeface="Times New Roman"/>
                <a:cs typeface="Times New Roman"/>
              </a:rPr>
              <a:t>Perform </a:t>
            </a:r>
            <a:r>
              <a:rPr lang="en-IN" sz="2800" b="1" dirty="0">
                <a:latin typeface="Times New Roman"/>
                <a:cs typeface="Times New Roman"/>
              </a:rPr>
              <a:t>price comparison</a:t>
            </a:r>
            <a:r>
              <a:rPr lang="en-IN" sz="2800" b="0" dirty="0">
                <a:latin typeface="Times New Roman"/>
                <a:cs typeface="Times New Roman"/>
              </a:rPr>
              <a:t> and </a:t>
            </a:r>
            <a:r>
              <a:rPr lang="en-IN" sz="2800" b="1" dirty="0">
                <a:latin typeface="Times New Roman"/>
                <a:cs typeface="Times New Roman"/>
              </a:rPr>
              <a:t>rating-versus-price analysis</a:t>
            </a:r>
            <a:r>
              <a:rPr lang="en-IN" sz="2800" b="0" dirty="0">
                <a:latin typeface="Times New Roman"/>
                <a:cs typeface="Times New Roman"/>
              </a:rPr>
              <a:t>.</a:t>
            </a:r>
          </a:p>
          <a:p>
            <a:pPr marL="457200" indent="-457200">
              <a:spcBef>
                <a:spcPts val="600"/>
              </a:spcBef>
              <a:buFont typeface="Arial"/>
              <a:buChar char="•"/>
            </a:pPr>
            <a:r>
              <a:rPr lang="en-IN" sz="2800" b="0" dirty="0">
                <a:latin typeface="Times New Roman"/>
                <a:cs typeface="Times New Roman"/>
              </a:rPr>
              <a:t>Generate </a:t>
            </a:r>
            <a:r>
              <a:rPr lang="en-IN" sz="2800" b="1" dirty="0">
                <a:latin typeface="Times New Roman"/>
                <a:cs typeface="Times New Roman"/>
              </a:rPr>
              <a:t>bar charts and scatter plots</a:t>
            </a:r>
            <a:r>
              <a:rPr lang="en-IN" sz="2800" b="0" dirty="0">
                <a:latin typeface="Times New Roman"/>
                <a:cs typeface="Times New Roman"/>
              </a:rPr>
              <a:t> using Matplotlib.</a:t>
            </a:r>
          </a:p>
          <a:p>
            <a:pPr marL="457200" indent="-457200">
              <a:spcBef>
                <a:spcPts val="600"/>
              </a:spcBef>
              <a:buFont typeface="Arial"/>
              <a:buChar char="•"/>
            </a:pPr>
            <a:r>
              <a:rPr lang="en-IN" sz="2800" b="0" dirty="0">
                <a:latin typeface="Times New Roman"/>
                <a:cs typeface="Times New Roman"/>
              </a:rPr>
              <a:t>Provide a </a:t>
            </a:r>
            <a:r>
              <a:rPr lang="en-IN" sz="2800" b="1" dirty="0">
                <a:latin typeface="Times New Roman"/>
                <a:cs typeface="Times New Roman"/>
              </a:rPr>
              <a:t>Flask interface</a:t>
            </a:r>
            <a:r>
              <a:rPr lang="en-IN" sz="2800" b="0" dirty="0">
                <a:latin typeface="Times New Roman"/>
                <a:cs typeface="Times New Roman"/>
              </a:rPr>
              <a:t> for product display and analysis results.</a:t>
            </a:r>
          </a:p>
          <a:p>
            <a:pPr marL="457200" indent="-457200">
              <a:spcBef>
                <a:spcPts val="600"/>
              </a:spcBef>
              <a:buFont typeface="Arial"/>
              <a:buChar char="•"/>
            </a:pPr>
            <a:r>
              <a:rPr lang="en-IN" sz="2800" b="0" dirty="0">
                <a:latin typeface="Times New Roman"/>
                <a:cs typeface="Times New Roman"/>
              </a:rPr>
              <a:t>Support </a:t>
            </a:r>
            <a:r>
              <a:rPr lang="en-IN" sz="2800" b="1" dirty="0">
                <a:latin typeface="Times New Roman"/>
                <a:cs typeface="Times New Roman"/>
              </a:rPr>
              <a:t>search, refresh and CSV download</a:t>
            </a:r>
            <a:r>
              <a:rPr lang="en-IN" sz="2800" b="0" dirty="0">
                <a:latin typeface="Times New Roman"/>
                <a:cs typeface="Times New Roman"/>
              </a:rPr>
              <a:t> in the web interface.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2CAE2E7-9ABB-DA77-F712-97BF6E18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October 2026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D17DFABE-6C47-0D1C-A653-62AD26750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2054" name="Title Pill"/>
          <p:cNvSpPr/>
          <p:nvPr/>
        </p:nvSpPr>
        <p:spPr>
          <a:xfrm>
            <a:off x="2896000" y="90000"/>
            <a:ext cx="6400000" cy="560000"/>
          </a:xfrm>
          <a:prstGeom prst="roundRect">
            <a:avLst>
              <a:gd name="adj" fmla="val 18000"/>
            </a:avLst>
          </a:prstGeom>
          <a:solidFill>
            <a:srgbClr val="FF6600"/>
          </a:solidFill>
          <a:ln>
            <a:noFill/>
          </a:ln>
          <a:effectLst>
            <a:outerShdw blurRad="63500" dist="38100" dir="5400000" algn="t" rotWithShape="0">
              <a:srgbClr val="000000">
                <a:alpha val="35000"/>
              </a:srgbClr>
            </a:outerShdw>
          </a:effectLst>
        </p:spPr>
        <p:txBody>
          <a:bodyPr wrap="square" lIns="91440" tIns="0" rIns="91440" bIns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ook Antiqua"/>
                <a:ea typeface="Verdana"/>
                <a:cs typeface="Arial Unicode MS"/>
              </a:rPr>
              <a:t>PROBLEM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70DE2-8F0E-E090-82F8-976F7F825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C852322D-A358-457F-53B5-2BCA20C8C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October 2026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BAF52F-12F9-2146-406F-29D3BA75D84C}"/>
              </a:ext>
            </a:extLst>
          </p:cNvPr>
          <p:cNvSpPr txBox="1"/>
          <p:nvPr/>
        </p:nvSpPr>
        <p:spPr>
          <a:xfrm>
            <a:off x="353122" y="1364117"/>
            <a:ext cx="6949440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000"/>
              </a:spcBef>
              <a:buFont typeface="Arial"/>
              <a:buChar char="•"/>
            </a:pPr>
            <a:r>
              <a:rPr lang="en-IN" sz="2800" b="0" dirty="0">
                <a:latin typeface="Times New Roman"/>
                <a:cs typeface="Times New Roman"/>
              </a:rPr>
              <a:t>Product details on web pages are </a:t>
            </a:r>
            <a:r>
              <a:rPr lang="en-IN" sz="2800" b="1" dirty="0">
                <a:latin typeface="Times New Roman"/>
                <a:cs typeface="Times New Roman"/>
              </a:rPr>
              <a:t>semi-structured HTML data</a:t>
            </a:r>
            <a:r>
              <a:rPr lang="en-IN" sz="2800" b="0" dirty="0">
                <a:latin typeface="Times New Roman"/>
                <a:cs typeface="Times New Roman"/>
              </a:rPr>
              <a:t>.</a:t>
            </a:r>
          </a:p>
          <a:p>
            <a:pPr marL="457200" indent="-457200">
              <a:spcBef>
                <a:spcPts val="1000"/>
              </a:spcBef>
              <a:buFont typeface="Arial"/>
              <a:buChar char="•"/>
            </a:pPr>
            <a:r>
              <a:rPr lang="en-IN" sz="2800" b="0" dirty="0">
                <a:latin typeface="Times New Roman"/>
                <a:cs typeface="Times New Roman"/>
              </a:rPr>
              <a:t>Manual collection of names, prices and ratings is </a:t>
            </a:r>
            <a:r>
              <a:rPr lang="en-IN" sz="2800" b="1" dirty="0">
                <a:latin typeface="Times New Roman"/>
                <a:cs typeface="Times New Roman"/>
              </a:rPr>
              <a:t>repetitive and inefficient</a:t>
            </a:r>
            <a:r>
              <a:rPr lang="en-IN" sz="2800" b="0" dirty="0">
                <a:latin typeface="Times New Roman"/>
                <a:cs typeface="Times New Roman"/>
              </a:rPr>
              <a:t>.</a:t>
            </a:r>
          </a:p>
          <a:p>
            <a:pPr marL="457200" indent="-457200">
              <a:spcBef>
                <a:spcPts val="1000"/>
              </a:spcBef>
              <a:buFont typeface="Arial"/>
              <a:buChar char="•"/>
            </a:pPr>
            <a:r>
              <a:rPr lang="en-IN" sz="2800" b="0" dirty="0">
                <a:latin typeface="Times New Roman"/>
                <a:cs typeface="Times New Roman"/>
              </a:rPr>
              <a:t>Raw scraped data needs </a:t>
            </a:r>
            <a:r>
              <a:rPr lang="en-IN" sz="2800" b="1" dirty="0">
                <a:latin typeface="Times New Roman"/>
                <a:cs typeface="Times New Roman"/>
              </a:rPr>
              <a:t>cleaning</a:t>
            </a:r>
            <a:r>
              <a:rPr lang="en-IN" sz="2800" b="0" dirty="0">
                <a:latin typeface="Times New Roman"/>
                <a:cs typeface="Times New Roman"/>
              </a:rPr>
              <a:t> before it can be analyzed.</a:t>
            </a:r>
          </a:p>
          <a:p>
            <a:pPr marL="457200" indent="-457200">
              <a:spcBef>
                <a:spcPts val="1000"/>
              </a:spcBef>
              <a:buFont typeface="Arial"/>
              <a:buChar char="•"/>
            </a:pPr>
            <a:r>
              <a:rPr lang="en-IN" sz="2800" b="0" dirty="0">
                <a:latin typeface="Times New Roman"/>
                <a:cs typeface="Times New Roman"/>
              </a:rPr>
              <a:t>Comparing price and rating directly on web pages is </a:t>
            </a:r>
            <a:r>
              <a:rPr lang="en-IN" sz="2800" b="1" dirty="0">
                <a:latin typeface="Times New Roman"/>
                <a:cs typeface="Times New Roman"/>
              </a:rPr>
              <a:t>difficult</a:t>
            </a:r>
            <a:r>
              <a:rPr lang="en-IN" sz="2800" b="0" dirty="0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2051" name="Rounded Rectangle 2050"/>
          <p:cNvSpPr/>
          <p:nvPr/>
        </p:nvSpPr>
        <p:spPr>
          <a:xfrm>
            <a:off x="7772400" y="1600200"/>
            <a:ext cx="3931920" cy="128016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solidFill>
              <a:srgbClr val="BFC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300" b="1">
                <a:solidFill>
                  <a:srgbClr val="595959"/>
                </a:solidFill>
                <a:latin typeface="Calibri"/>
              </a:rPr>
              <a:t>PROBLEM</a:t>
            </a:r>
          </a:p>
          <a:p>
            <a:pPr algn="l"/>
            <a:r>
              <a:rPr sz="2400" b="1">
                <a:solidFill>
                  <a:srgbClr val="1B2A4A"/>
                </a:solidFill>
                <a:latin typeface="Calibri"/>
              </a:rPr>
              <a:t>Manual collection</a:t>
            </a:r>
          </a:p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Repetitive and error-prone</a:t>
            </a:r>
          </a:p>
        </p:txBody>
      </p:sp>
      <p:sp>
        <p:nvSpPr>
          <p:cNvPr id="2052" name="Rounded Rectangle 2051"/>
          <p:cNvSpPr/>
          <p:nvPr/>
        </p:nvSpPr>
        <p:spPr>
          <a:xfrm>
            <a:off x="7772400" y="3063240"/>
            <a:ext cx="3931920" cy="128016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solidFill>
              <a:srgbClr val="BFC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300" b="1">
                <a:solidFill>
                  <a:srgbClr val="595959"/>
                </a:solidFill>
                <a:latin typeface="Calibri"/>
              </a:rPr>
              <a:t>NEED</a:t>
            </a:r>
          </a:p>
          <a:p>
            <a:pPr algn="l"/>
            <a:r>
              <a:rPr sz="2400" b="1">
                <a:solidFill>
                  <a:srgbClr val="1B2A4A"/>
                </a:solidFill>
                <a:latin typeface="Calibri"/>
              </a:rPr>
              <a:t>Automated pipeline</a:t>
            </a:r>
          </a:p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Scrape, clean and structure data</a:t>
            </a:r>
          </a:p>
        </p:txBody>
      </p:sp>
      <p:sp>
        <p:nvSpPr>
          <p:cNvPr id="2053" name="Rounded Rectangle 2052"/>
          <p:cNvSpPr/>
          <p:nvPr/>
        </p:nvSpPr>
        <p:spPr>
          <a:xfrm>
            <a:off x="7772400" y="4526280"/>
            <a:ext cx="3931920" cy="128016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solidFill>
              <a:srgbClr val="BFC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300" b="1">
                <a:solidFill>
                  <a:srgbClr val="595959"/>
                </a:solidFill>
                <a:latin typeface="Calibri"/>
              </a:rPr>
              <a:t>SOLUTION</a:t>
            </a:r>
          </a:p>
          <a:p>
            <a:pPr algn="l"/>
            <a:r>
              <a:rPr sz="2400" b="1">
                <a:solidFill>
                  <a:srgbClr val="1B2A4A"/>
                </a:solidFill>
                <a:latin typeface="Calibri"/>
              </a:rPr>
              <a:t>Scrape + analyze</a:t>
            </a:r>
          </a:p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BeautifulSoup, Pandas, Flask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50A73081-F60E-9E12-B51F-5677EE818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66542-3A31-7A37-929C-FB4B6951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  <p:sp>
        <p:nvSpPr>
          <p:cNvPr id="2051" name="Title Pill"/>
          <p:cNvSpPr/>
          <p:nvPr/>
        </p:nvSpPr>
        <p:spPr>
          <a:xfrm>
            <a:off x="2896000" y="90000"/>
            <a:ext cx="6400000" cy="560000"/>
          </a:xfrm>
          <a:prstGeom prst="roundRect">
            <a:avLst>
              <a:gd name="adj" fmla="val 18000"/>
            </a:avLst>
          </a:prstGeom>
          <a:solidFill>
            <a:srgbClr val="FF6600"/>
          </a:solidFill>
          <a:ln>
            <a:noFill/>
          </a:ln>
          <a:effectLst>
            <a:outerShdw blurRad="63500" dist="38100" dir="5400000" algn="t" rotWithShape="0">
              <a:srgbClr val="000000">
                <a:alpha val="35000"/>
              </a:srgbClr>
            </a:outerShdw>
          </a:effectLst>
        </p:spPr>
        <p:txBody>
          <a:bodyPr wrap="square" lIns="91440" tIns="0" rIns="91440" bIns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ook Antiqua"/>
                <a:ea typeface="Verdana"/>
                <a:cs typeface="Arial Unicode MS"/>
              </a:rPr>
              <a:t>PROJECT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329CAA-6D27-E8CC-7747-87BA2C71D718}"/>
              </a:ext>
            </a:extLst>
          </p:cNvPr>
          <p:cNvSpPr txBox="1"/>
          <p:nvPr/>
        </p:nvSpPr>
        <p:spPr>
          <a:xfrm>
            <a:off x="304800" y="900000"/>
            <a:ext cx="11339623" cy="5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n-IN" sz="3000" b="1" dirty="0">
                <a:latin typeface="Times New Roman"/>
                <a:cs typeface="Times New Roman"/>
              </a:rPr>
              <a:t>Acquire</a:t>
            </a:r>
            <a:r>
              <a:rPr lang="en-IN" sz="3000" b="0" dirty="0">
                <a:latin typeface="Times New Roman"/>
                <a:cs typeface="Times New Roman"/>
              </a:rPr>
              <a:t> – scrape product name, price and rating from web pages.</a:t>
            </a:r>
          </a:p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n-IN" sz="3000" b="1" dirty="0">
                <a:latin typeface="Times New Roman"/>
                <a:cs typeface="Times New Roman"/>
              </a:rPr>
              <a:t>Store</a:t>
            </a:r>
            <a:r>
              <a:rPr lang="en-IN" sz="3000" b="0" dirty="0">
                <a:latin typeface="Times New Roman"/>
                <a:cs typeface="Times New Roman"/>
              </a:rPr>
              <a:t> – maintain structured records in Pandas and CSV.</a:t>
            </a:r>
          </a:p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n-IN" sz="3000" b="1" dirty="0">
                <a:latin typeface="Times New Roman"/>
                <a:cs typeface="Times New Roman"/>
              </a:rPr>
              <a:t>Clean</a:t>
            </a:r>
            <a:r>
              <a:rPr lang="en-IN" sz="3000" b="0" dirty="0">
                <a:latin typeface="Times New Roman"/>
                <a:cs typeface="Times New Roman"/>
              </a:rPr>
              <a:t> – normalize fields so they can be analyzed consistently.</a:t>
            </a:r>
          </a:p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n-IN" sz="3000" b="1" dirty="0">
                <a:latin typeface="Times New Roman"/>
                <a:cs typeface="Times New Roman"/>
              </a:rPr>
              <a:t>Analyze</a:t>
            </a:r>
            <a:r>
              <a:rPr lang="en-IN" sz="3000" b="0" dirty="0">
                <a:latin typeface="Times New Roman"/>
                <a:cs typeface="Times New Roman"/>
              </a:rPr>
              <a:t> – perform price comparison and rating analysis.</a:t>
            </a:r>
          </a:p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n-IN" sz="3000" b="1" dirty="0">
                <a:latin typeface="Times New Roman"/>
                <a:cs typeface="Times New Roman"/>
              </a:rPr>
              <a:t>Visualize</a:t>
            </a:r>
            <a:r>
              <a:rPr lang="en-IN" sz="3000" b="0" dirty="0">
                <a:latin typeface="Times New Roman"/>
                <a:cs typeface="Times New Roman"/>
              </a:rPr>
              <a:t> – create bar charts and scatter plots with Matplotlib.</a:t>
            </a:r>
          </a:p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n-IN" sz="3000" b="1" dirty="0">
                <a:latin typeface="Times New Roman"/>
                <a:cs typeface="Times New Roman"/>
              </a:rPr>
              <a:t>Present</a:t>
            </a:r>
            <a:r>
              <a:rPr lang="en-IN" sz="3000" b="0" dirty="0">
                <a:latin typeface="Times New Roman"/>
                <a:cs typeface="Times New Roman"/>
              </a:rPr>
              <a:t> – show products and results through a Flask interface.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2CAE2E7-9ABB-DA77-F712-97BF6E18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October 2026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50A73081-F60E-9E12-B51F-5677EE818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66542-3A31-7A37-929C-FB4B6951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  <p:sp>
        <p:nvSpPr>
          <p:cNvPr id="2051" name="Title Pill"/>
          <p:cNvSpPr/>
          <p:nvPr/>
        </p:nvSpPr>
        <p:spPr>
          <a:xfrm>
            <a:off x="2896000" y="90000"/>
            <a:ext cx="6400000" cy="560000"/>
          </a:xfrm>
          <a:prstGeom prst="roundRect">
            <a:avLst>
              <a:gd name="adj" fmla="val 18000"/>
            </a:avLst>
          </a:prstGeom>
          <a:solidFill>
            <a:srgbClr val="FF6600"/>
          </a:solidFill>
          <a:ln>
            <a:noFill/>
          </a:ln>
          <a:effectLst>
            <a:outerShdw blurRad="63500" dist="38100" dir="5400000" algn="t" rotWithShape="0">
              <a:srgbClr val="000000">
                <a:alpha val="35000"/>
              </a:srgbClr>
            </a:outerShdw>
          </a:effectLst>
        </p:spPr>
        <p:txBody>
          <a:bodyPr wrap="square" lIns="91440" tIns="0" rIns="91440" bIns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ook Antiqua"/>
                <a:ea typeface="Verdana"/>
                <a:cs typeface="Arial Unicode MS"/>
              </a:rPr>
              <a:t>DATASET DESCRIPTION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329CAA-6D27-E8CC-7747-87BA2C71D718}"/>
              </a:ext>
            </a:extLst>
          </p:cNvPr>
          <p:cNvSpPr txBox="1"/>
          <p:nvPr/>
        </p:nvSpPr>
        <p:spPr>
          <a:xfrm>
            <a:off x="304800" y="1100000"/>
            <a:ext cx="11339623" cy="5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en-IN" sz="3000" b="1" dirty="0">
                <a:latin typeface="Times New Roman"/>
                <a:cs typeface="Times New Roman"/>
              </a:rPr>
              <a:t>Source:</a:t>
            </a:r>
            <a:r>
              <a:rPr lang="en-IN" sz="3000" b="0" dirty="0">
                <a:latin typeface="Times New Roman"/>
                <a:cs typeface="Times New Roman"/>
              </a:rPr>
              <a:t> Books to Scrape – a practice website for web scraping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IN" sz="3000" b="1" dirty="0">
                <a:latin typeface="Times New Roman"/>
                <a:cs typeface="Times New Roman"/>
              </a:rPr>
              <a:t>Site size:</a:t>
            </a:r>
            <a:r>
              <a:rPr lang="en-IN" sz="3000" b="0" dirty="0">
                <a:latin typeface="Times New Roman"/>
                <a:cs typeface="Times New Roman"/>
              </a:rPr>
              <a:t> 1,000 books across 50 pages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IN" sz="3000" b="1" dirty="0">
                <a:latin typeface="Times New Roman"/>
                <a:cs typeface="Times New Roman"/>
              </a:rPr>
              <a:t>Working sample:</a:t>
            </a:r>
            <a:r>
              <a:rPr lang="en-IN" sz="3000" b="0" dirty="0">
                <a:latin typeface="Times New Roman"/>
                <a:cs typeface="Times New Roman"/>
              </a:rPr>
              <a:t> 20 book records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IN" sz="3000" b="1" dirty="0">
                <a:latin typeface="Times New Roman"/>
                <a:cs typeface="Times New Roman"/>
              </a:rPr>
              <a:t>Attributes:</a:t>
            </a:r>
            <a:r>
              <a:rPr lang="en-IN" sz="3000" b="0" dirty="0">
                <a:latin typeface="Times New Roman"/>
                <a:cs typeface="Times New Roman"/>
              </a:rPr>
              <a:t> 3 fields – Product Name, Price, Rating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IN" sz="3000" b="1" dirty="0">
                <a:latin typeface="Times New Roman"/>
                <a:cs typeface="Times New Roman"/>
              </a:rPr>
              <a:t>Data type:</a:t>
            </a:r>
            <a:r>
              <a:rPr lang="en-IN" sz="3000" b="0" dirty="0">
                <a:latin typeface="Times New Roman"/>
                <a:cs typeface="Times New Roman"/>
              </a:rPr>
              <a:t> Text and numeric product data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IN" sz="3000" b="1" dirty="0">
                <a:latin typeface="Times New Roman"/>
                <a:cs typeface="Times New Roman"/>
              </a:rPr>
              <a:t>Price:</a:t>
            </a:r>
            <a:r>
              <a:rPr lang="en-IN" sz="3000" b="0" dirty="0">
                <a:latin typeface="Times New Roman"/>
                <a:cs typeface="Times New Roman"/>
              </a:rPr>
              <a:t> in pounds (£)  |  </a:t>
            </a:r>
            <a:r>
              <a:rPr lang="en-IN" sz="3000" b="1" dirty="0">
                <a:latin typeface="Times New Roman"/>
                <a:cs typeface="Times New Roman"/>
              </a:rPr>
              <a:t>Rating:</a:t>
            </a:r>
            <a:r>
              <a:rPr lang="en-IN" sz="3000" b="0" dirty="0">
                <a:latin typeface="Times New Roman"/>
                <a:cs typeface="Times New Roman"/>
              </a:rPr>
              <a:t> 1–5 scale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IN" sz="3000" b="1" dirty="0">
                <a:latin typeface="Times New Roman"/>
                <a:cs typeface="Times New Roman"/>
              </a:rPr>
              <a:t>Example record:</a:t>
            </a:r>
            <a:r>
              <a:rPr lang="en-IN" sz="3000" b="0" dirty="0">
                <a:latin typeface="Times New Roman"/>
                <a:cs typeface="Times New Roman"/>
              </a:rPr>
              <a:t> “A Light in the Attic” – £51.77 – Rating 3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2CAE2E7-9ABB-DA77-F712-97BF6E18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October 2026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50A73081-F60E-9E12-B51F-5677EE818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66542-3A31-7A37-929C-FB4B6951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  <p:sp>
        <p:nvSpPr>
          <p:cNvPr id="2051" name="Title Pill"/>
          <p:cNvSpPr/>
          <p:nvPr/>
        </p:nvSpPr>
        <p:spPr>
          <a:xfrm>
            <a:off x="2896000" y="90000"/>
            <a:ext cx="6400000" cy="560000"/>
          </a:xfrm>
          <a:prstGeom prst="roundRect">
            <a:avLst>
              <a:gd name="adj" fmla="val 18000"/>
            </a:avLst>
          </a:prstGeom>
          <a:solidFill>
            <a:srgbClr val="FF6600"/>
          </a:solidFill>
          <a:ln>
            <a:noFill/>
          </a:ln>
          <a:effectLst>
            <a:outerShdw blurRad="63500" dist="38100" dir="5400000" algn="t" rotWithShape="0">
              <a:srgbClr val="000000">
                <a:alpha val="35000"/>
              </a:srgbClr>
            </a:outerShdw>
          </a:effectLst>
        </p:spPr>
        <p:txBody>
          <a:bodyPr wrap="square" lIns="91440" tIns="0" rIns="91440" bIns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ook Antiqua"/>
                <a:ea typeface="Verdana"/>
                <a:cs typeface="Arial Unicode MS"/>
              </a:rPr>
              <a:t>DATA DICTIONARY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2CAE2E7-9ABB-DA77-F712-97BF6E18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October 2026</a:t>
            </a:fld>
            <a:endParaRPr lang="en-US" dirty="0"/>
          </a:p>
        </p:txBody>
      </p:sp>
      <p:graphicFrame>
        <p:nvGraphicFramePr>
          <p:cNvPr id="2052" name="Table 2051"/>
          <p:cNvGraphicFramePr>
            <a:graphicFrameLocks noGrp="1"/>
          </p:cNvGraphicFramePr>
          <p:nvPr/>
        </p:nvGraphicFramePr>
        <p:xfrm>
          <a:off x="900000" y="1500000"/>
          <a:ext cx="1040000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00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Times New Roman"/>
                        </a:rPr>
                        <a:t>Field</a:t>
                      </a:r>
                    </a:p>
                  </a:txBody>
                  <a:tcPr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Times New Roman"/>
                        </a:rPr>
                        <a:t>Meaning</a:t>
                      </a:r>
                    </a:p>
                  </a:txBody>
                  <a:tcPr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1B2A4A"/>
                          </a:solidFill>
                          <a:latin typeface="Times New Roman"/>
                        </a:rPr>
                        <a:t>Product Name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B2A4A"/>
                          </a:solidFill>
                          <a:latin typeface="Times New Roman"/>
                        </a:rPr>
                        <a:t>Text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B2A4A"/>
                          </a:solidFill>
                          <a:latin typeface="Times New Roman"/>
                        </a:rPr>
                        <a:t>Book title collected from the page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1B2A4A"/>
                          </a:solidFill>
                          <a:latin typeface="Times New Roman"/>
                        </a:rPr>
                        <a:t>Price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B2A4A"/>
                          </a:solidFill>
                          <a:latin typeface="Times New Roman"/>
                        </a:rPr>
                        <a:t>Numeric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B2A4A"/>
                          </a:solidFill>
                          <a:latin typeface="Times New Roman"/>
                        </a:rPr>
                        <a:t>Product price in pounds (£)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1B2A4A"/>
                          </a:solidFill>
                          <a:latin typeface="Times New Roman"/>
                        </a:rPr>
                        <a:t>Rating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B2A4A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B2A4A"/>
                          </a:solidFill>
                          <a:latin typeface="Times New Roman"/>
                        </a:rPr>
                        <a:t>Rating on a 1–5 scale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53" name="TextBox 2052"/>
          <p:cNvSpPr txBox="1"/>
          <p:nvPr/>
        </p:nvSpPr>
        <p:spPr>
          <a:xfrm>
            <a:off x="900000" y="4700000"/>
            <a:ext cx="104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IN" sz="2400" b="1" dirty="0">
                <a:latin typeface="Times New Roman"/>
                <a:cs typeface="Times New Roman"/>
              </a:rPr>
              <a:t>Example record:</a:t>
            </a:r>
            <a:r>
              <a:rPr lang="en-IN" sz="2400" b="0" dirty="0">
                <a:latin typeface="Times New Roman"/>
                <a:cs typeface="Times New Roman"/>
              </a:rPr>
              <a:t> “A Light in the Attic” – £51.77 – Rating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50A73081-F60E-9E12-B51F-5677EE818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66542-3A31-7A37-929C-FB4B6951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  <p:sp>
        <p:nvSpPr>
          <p:cNvPr id="2051" name="Title Pill"/>
          <p:cNvSpPr/>
          <p:nvPr/>
        </p:nvSpPr>
        <p:spPr>
          <a:xfrm>
            <a:off x="2896000" y="90000"/>
            <a:ext cx="6400000" cy="560000"/>
          </a:xfrm>
          <a:prstGeom prst="roundRect">
            <a:avLst>
              <a:gd name="adj" fmla="val 18000"/>
            </a:avLst>
          </a:prstGeom>
          <a:solidFill>
            <a:srgbClr val="FF6600"/>
          </a:solidFill>
          <a:ln>
            <a:noFill/>
          </a:ln>
          <a:effectLst>
            <a:outerShdw blurRad="63500" dist="38100" dir="5400000" algn="t" rotWithShape="0">
              <a:srgbClr val="000000">
                <a:alpha val="35000"/>
              </a:srgbClr>
            </a:outerShdw>
          </a:effectLst>
        </p:spPr>
        <p:txBody>
          <a:bodyPr wrap="square" lIns="91440" tIns="0" rIns="91440" bIns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ook Antiqua"/>
                <a:ea typeface="Verdana"/>
                <a:cs typeface="Arial Unicode MS"/>
              </a:rPr>
              <a:t>REQUIREMENTS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329CAA-6D27-E8CC-7747-87BA2C71D718}"/>
              </a:ext>
            </a:extLst>
          </p:cNvPr>
          <p:cNvSpPr txBox="1"/>
          <p:nvPr/>
        </p:nvSpPr>
        <p:spPr>
          <a:xfrm>
            <a:off x="304800" y="900000"/>
            <a:ext cx="11339623" cy="5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IN" sz="2400" b="1" dirty="0">
                <a:latin typeface="Times New Roman"/>
                <a:cs typeface="Times New Roman"/>
              </a:rPr>
              <a:t>Hardware Requirements</a:t>
            </a:r>
          </a:p>
          <a:p>
            <a:pPr marL="457200" indent="-457200">
              <a:spcBef>
                <a:spcPts val="400"/>
              </a:spcBef>
              <a:buFont typeface="Arial"/>
              <a:buChar char="•"/>
            </a:pPr>
            <a:r>
              <a:rPr lang="en-IN" sz="2400" b="0" dirty="0">
                <a:latin typeface="Times New Roman"/>
                <a:cs typeface="Times New Roman"/>
              </a:rPr>
              <a:t>Standard laptop / desktop</a:t>
            </a:r>
          </a:p>
          <a:p>
            <a:pPr marL="457200" indent="-457200">
              <a:spcBef>
                <a:spcPts val="400"/>
              </a:spcBef>
              <a:buFont typeface="Arial"/>
              <a:buChar char="•"/>
            </a:pPr>
            <a:r>
              <a:rPr lang="en-IN" sz="2400" b="0" dirty="0">
                <a:latin typeface="Times New Roman"/>
                <a:cs typeface="Times New Roman"/>
              </a:rPr>
              <a:t>Internet connection for web-page access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IN" sz="2400" b="1" dirty="0">
                <a:latin typeface="Times New Roman"/>
                <a:cs typeface="Times New Roman"/>
              </a:rPr>
              <a:t>Software Requirements</a:t>
            </a:r>
          </a:p>
          <a:p>
            <a:pPr marL="457200" indent="-457200">
              <a:spcBef>
                <a:spcPts val="400"/>
              </a:spcBef>
              <a:buFont typeface="Arial"/>
              <a:buChar char="•"/>
            </a:pPr>
            <a:r>
              <a:rPr lang="en-IN" sz="2400" b="1" dirty="0">
                <a:latin typeface="Times New Roman"/>
                <a:cs typeface="Times New Roman"/>
              </a:rPr>
              <a:t>Python</a:t>
            </a:r>
            <a:r>
              <a:rPr lang="en-IN" sz="2400" b="0" dirty="0">
                <a:latin typeface="Times New Roman"/>
                <a:cs typeface="Times New Roman"/>
              </a:rPr>
              <a:t> – programming language</a:t>
            </a:r>
          </a:p>
          <a:p>
            <a:pPr marL="457200" indent="-457200">
              <a:spcBef>
                <a:spcPts val="400"/>
              </a:spcBef>
              <a:buFont typeface="Arial"/>
              <a:buChar char="•"/>
            </a:pPr>
            <a:r>
              <a:rPr lang="en-IN" sz="2400" b="1" dirty="0">
                <a:latin typeface="Times New Roman"/>
                <a:cs typeface="Times New Roman"/>
              </a:rPr>
              <a:t>BeautifulSoup</a:t>
            </a:r>
            <a:r>
              <a:rPr lang="en-IN" sz="2400" b="0" dirty="0">
                <a:latin typeface="Times New Roman"/>
                <a:cs typeface="Times New Roman"/>
              </a:rPr>
              <a:t> – web scraping</a:t>
            </a:r>
          </a:p>
          <a:p>
            <a:pPr marL="457200" indent="-457200">
              <a:spcBef>
                <a:spcPts val="400"/>
              </a:spcBef>
              <a:buFont typeface="Arial"/>
              <a:buChar char="•"/>
            </a:pPr>
            <a:r>
              <a:rPr lang="en-IN" sz="2400" b="1" dirty="0">
                <a:latin typeface="Times New Roman"/>
                <a:cs typeface="Times New Roman"/>
              </a:rPr>
              <a:t>Pandas</a:t>
            </a:r>
            <a:r>
              <a:rPr lang="en-IN" sz="2400" b="0" dirty="0">
                <a:latin typeface="Times New Roman"/>
                <a:cs typeface="Times New Roman"/>
              </a:rPr>
              <a:t> – data handling and cleaning</a:t>
            </a:r>
          </a:p>
          <a:p>
            <a:pPr marL="457200" indent="-457200">
              <a:spcBef>
                <a:spcPts val="400"/>
              </a:spcBef>
              <a:buFont typeface="Arial"/>
              <a:buChar char="•"/>
            </a:pPr>
            <a:r>
              <a:rPr lang="en-IN" sz="2400" b="1" dirty="0">
                <a:latin typeface="Times New Roman"/>
                <a:cs typeface="Times New Roman"/>
              </a:rPr>
              <a:t>Matplotlib</a:t>
            </a:r>
            <a:r>
              <a:rPr lang="en-IN" sz="2400" b="0" dirty="0">
                <a:latin typeface="Times New Roman"/>
                <a:cs typeface="Times New Roman"/>
              </a:rPr>
              <a:t> – data visualization</a:t>
            </a:r>
          </a:p>
          <a:p>
            <a:pPr marL="457200" indent="-457200">
              <a:spcBef>
                <a:spcPts val="400"/>
              </a:spcBef>
              <a:buFont typeface="Arial"/>
              <a:buChar char="•"/>
            </a:pPr>
            <a:r>
              <a:rPr lang="en-IN" sz="2400" b="1" dirty="0">
                <a:latin typeface="Times New Roman"/>
                <a:cs typeface="Times New Roman"/>
              </a:rPr>
              <a:t>Flask</a:t>
            </a:r>
            <a:r>
              <a:rPr lang="en-IN" sz="2400" b="0" dirty="0">
                <a:latin typeface="Times New Roman"/>
                <a:cs typeface="Times New Roman"/>
              </a:rPr>
              <a:t> – web interface</a:t>
            </a:r>
          </a:p>
          <a:p>
            <a:pPr marL="457200" indent="-457200">
              <a:spcBef>
                <a:spcPts val="400"/>
              </a:spcBef>
              <a:buFont typeface="Arial"/>
              <a:buChar char="•"/>
            </a:pPr>
            <a:r>
              <a:rPr lang="en-IN" sz="2400" b="1" dirty="0">
                <a:latin typeface="Times New Roman"/>
                <a:cs typeface="Times New Roman"/>
              </a:rPr>
              <a:t>CSV</a:t>
            </a:r>
            <a:r>
              <a:rPr lang="en-IN" sz="2400" b="0" dirty="0">
                <a:latin typeface="Times New Roman"/>
                <a:cs typeface="Times New Roman"/>
              </a:rPr>
              <a:t> – dataset storage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2CAE2E7-9ABB-DA77-F712-97BF6E18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October 2026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D17DFABE-6C47-0D1C-A653-62AD26750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2059" name="Title Pill"/>
          <p:cNvSpPr/>
          <p:nvPr/>
        </p:nvSpPr>
        <p:spPr>
          <a:xfrm>
            <a:off x="2896000" y="90000"/>
            <a:ext cx="6400000" cy="560000"/>
          </a:xfrm>
          <a:prstGeom prst="roundRect">
            <a:avLst>
              <a:gd name="adj" fmla="val 18000"/>
            </a:avLst>
          </a:prstGeom>
          <a:solidFill>
            <a:srgbClr val="FF6600"/>
          </a:solidFill>
          <a:ln>
            <a:noFill/>
          </a:ln>
          <a:effectLst>
            <a:outerShdw blurRad="63500" dist="38100" dir="5400000" algn="t" rotWithShape="0">
              <a:srgbClr val="000000">
                <a:alpha val="35000"/>
              </a:srgbClr>
            </a:outerShdw>
          </a:effectLst>
        </p:spPr>
        <p:txBody>
          <a:bodyPr wrap="square" lIns="91440" tIns="0" rIns="91440" bIns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ook Antiqua"/>
                <a:ea typeface="Verdana"/>
                <a:cs typeface="Arial Unicode MS"/>
              </a:rPr>
              <a:t>PROJECT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70DE2-8F0E-E090-82F8-976F7F825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C852322D-A358-457F-53B5-2BCA20C8C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October 2026</a:t>
            </a:fld>
            <a:endParaRPr lang="en-US" dirty="0"/>
          </a:p>
        </p:txBody>
      </p:sp>
      <p:sp>
        <p:nvSpPr>
          <p:cNvPr id="2051" name="Rounded Rectangle 2050"/>
          <p:cNvSpPr/>
          <p:nvPr/>
        </p:nvSpPr>
        <p:spPr>
          <a:xfrm>
            <a:off x="411480" y="173736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3000" b="1">
                <a:solidFill>
                  <a:srgbClr val="FF6600"/>
                </a:solidFill>
                <a:latin typeface="Calibri"/>
              </a:rPr>
              <a:t>1</a:t>
            </a:r>
          </a:p>
          <a:p>
            <a:pPr algn="l"/>
            <a:r>
              <a:rPr sz="1800" b="1">
                <a:solidFill>
                  <a:srgbClr val="1B2A4A"/>
                </a:solidFill>
                <a:latin typeface="Calibri"/>
              </a:rPr>
              <a:t>Open Web Page</a:t>
            </a:r>
          </a:p>
        </p:txBody>
      </p:sp>
      <p:sp>
        <p:nvSpPr>
          <p:cNvPr id="2052" name="Rounded Rectangle 2051"/>
          <p:cNvSpPr/>
          <p:nvPr/>
        </p:nvSpPr>
        <p:spPr>
          <a:xfrm>
            <a:off x="3337560" y="173736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3000" b="1">
                <a:solidFill>
                  <a:srgbClr val="FF6600"/>
                </a:solidFill>
                <a:latin typeface="Calibri"/>
              </a:rPr>
              <a:t>2</a:t>
            </a:r>
          </a:p>
          <a:p>
            <a:pPr algn="l"/>
            <a:r>
              <a:rPr sz="1800" b="1">
                <a:solidFill>
                  <a:srgbClr val="1B2A4A"/>
                </a:solidFill>
                <a:latin typeface="Calibri"/>
              </a:rPr>
              <a:t>Scrape Data</a:t>
            </a:r>
          </a:p>
        </p:txBody>
      </p:sp>
      <p:sp>
        <p:nvSpPr>
          <p:cNvPr id="2053" name="Rounded Rectangle 2052"/>
          <p:cNvSpPr/>
          <p:nvPr/>
        </p:nvSpPr>
        <p:spPr>
          <a:xfrm>
            <a:off x="6263640" y="173736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3000" b="1">
                <a:solidFill>
                  <a:srgbClr val="FF6600"/>
                </a:solidFill>
                <a:latin typeface="Calibri"/>
              </a:rPr>
              <a:t>3</a:t>
            </a:r>
          </a:p>
          <a:p>
            <a:pPr algn="l"/>
            <a:r>
              <a:rPr sz="1800" b="1">
                <a:solidFill>
                  <a:srgbClr val="1B2A4A"/>
                </a:solidFill>
                <a:latin typeface="Calibri"/>
              </a:rPr>
              <a:t>Build DataFrame</a:t>
            </a:r>
          </a:p>
        </p:txBody>
      </p:sp>
      <p:sp>
        <p:nvSpPr>
          <p:cNvPr id="2054" name="Rounded Rectangle 2053"/>
          <p:cNvSpPr/>
          <p:nvPr/>
        </p:nvSpPr>
        <p:spPr>
          <a:xfrm>
            <a:off x="9189720" y="173736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3000" b="1">
                <a:solidFill>
                  <a:srgbClr val="FF6600"/>
                </a:solidFill>
                <a:latin typeface="Calibri"/>
              </a:rPr>
              <a:t>4</a:t>
            </a:r>
          </a:p>
          <a:p>
            <a:pPr algn="l"/>
            <a:r>
              <a:rPr sz="1800" b="1">
                <a:solidFill>
                  <a:srgbClr val="1B2A4A"/>
                </a:solidFill>
                <a:latin typeface="Calibri"/>
              </a:rPr>
              <a:t>Save to CSV</a:t>
            </a:r>
          </a:p>
        </p:txBody>
      </p:sp>
      <p:sp>
        <p:nvSpPr>
          <p:cNvPr id="2055" name="Rounded Rectangle 2054"/>
          <p:cNvSpPr/>
          <p:nvPr/>
        </p:nvSpPr>
        <p:spPr>
          <a:xfrm>
            <a:off x="411480" y="393192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3000" b="1">
                <a:solidFill>
                  <a:srgbClr val="FF6600"/>
                </a:solidFill>
                <a:latin typeface="Calibri"/>
              </a:rPr>
              <a:t>5</a:t>
            </a:r>
          </a:p>
          <a:p>
            <a:pPr algn="l"/>
            <a:r>
              <a:rPr sz="1800" b="1">
                <a:solidFill>
                  <a:srgbClr val="1B2A4A"/>
                </a:solidFill>
                <a:latin typeface="Calibri"/>
              </a:rPr>
              <a:t>Clean &amp; Validate</a:t>
            </a:r>
          </a:p>
        </p:txBody>
      </p:sp>
      <p:sp>
        <p:nvSpPr>
          <p:cNvPr id="2056" name="Rounded Rectangle 2055"/>
          <p:cNvSpPr/>
          <p:nvPr/>
        </p:nvSpPr>
        <p:spPr>
          <a:xfrm>
            <a:off x="3337560" y="393192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3000" b="1">
                <a:solidFill>
                  <a:srgbClr val="FF6600"/>
                </a:solidFill>
                <a:latin typeface="Calibri"/>
              </a:rPr>
              <a:t>6</a:t>
            </a:r>
          </a:p>
          <a:p>
            <a:pPr algn="l"/>
            <a:r>
              <a:rPr sz="1800" b="1">
                <a:solidFill>
                  <a:srgbClr val="1B2A4A"/>
                </a:solidFill>
                <a:latin typeface="Calibri"/>
              </a:rPr>
              <a:t>Analyze</a:t>
            </a:r>
          </a:p>
        </p:txBody>
      </p:sp>
      <p:sp>
        <p:nvSpPr>
          <p:cNvPr id="2057" name="Rounded Rectangle 2056"/>
          <p:cNvSpPr/>
          <p:nvPr/>
        </p:nvSpPr>
        <p:spPr>
          <a:xfrm>
            <a:off x="6263640" y="393192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3000" b="1">
                <a:solidFill>
                  <a:srgbClr val="FF6600"/>
                </a:solidFill>
                <a:latin typeface="Calibri"/>
              </a:rPr>
              <a:t>7</a:t>
            </a:r>
          </a:p>
          <a:p>
            <a:pPr algn="l"/>
            <a:r>
              <a:rPr sz="1800" b="1">
                <a:solidFill>
                  <a:srgbClr val="1B2A4A"/>
                </a:solidFill>
                <a:latin typeface="Calibri"/>
              </a:rPr>
              <a:t>Visualize</a:t>
            </a:r>
          </a:p>
        </p:txBody>
      </p:sp>
      <p:sp>
        <p:nvSpPr>
          <p:cNvPr id="2058" name="Rounded Rectangle 2057"/>
          <p:cNvSpPr/>
          <p:nvPr/>
        </p:nvSpPr>
        <p:spPr>
          <a:xfrm>
            <a:off x="9189720" y="393192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3000" b="1">
                <a:solidFill>
                  <a:srgbClr val="FF6600"/>
                </a:solidFill>
                <a:latin typeface="Calibri"/>
              </a:rPr>
              <a:t>8</a:t>
            </a:r>
          </a:p>
          <a:p>
            <a:pPr algn="l"/>
            <a:r>
              <a:rPr sz="1800" b="1">
                <a:solidFill>
                  <a:srgbClr val="1B2A4A"/>
                </a:solidFill>
                <a:latin typeface="Calibri"/>
              </a:rPr>
              <a:t>Flask Interface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50A73081-F60E-9E12-B51F-5677EE818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66542-3A31-7A37-929C-FB4B6951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  <p:sp>
        <p:nvSpPr>
          <p:cNvPr id="2051" name="Title Pill"/>
          <p:cNvSpPr/>
          <p:nvPr/>
        </p:nvSpPr>
        <p:spPr>
          <a:xfrm>
            <a:off x="2896000" y="90000"/>
            <a:ext cx="6400000" cy="560000"/>
          </a:xfrm>
          <a:prstGeom prst="roundRect">
            <a:avLst>
              <a:gd name="adj" fmla="val 18000"/>
            </a:avLst>
          </a:prstGeom>
          <a:solidFill>
            <a:srgbClr val="FF6600"/>
          </a:solidFill>
          <a:ln>
            <a:noFill/>
          </a:ln>
          <a:effectLst>
            <a:outerShdw blurRad="63500" dist="38100" dir="5400000" algn="t" rotWithShape="0">
              <a:srgbClr val="000000">
                <a:alpha val="35000"/>
              </a:srgbClr>
            </a:outerShdw>
          </a:effectLst>
        </p:spPr>
        <p:txBody>
          <a:bodyPr wrap="square" lIns="91440" tIns="0" rIns="91440" bIns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ook Antiqua"/>
                <a:ea typeface="Verdana"/>
                <a:cs typeface="Arial Unicode MS"/>
              </a:rPr>
              <a:t>METHODOLOGY – MODULES 1 TO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329CAA-6D27-E8CC-7747-87BA2C71D718}"/>
              </a:ext>
            </a:extLst>
          </p:cNvPr>
          <p:cNvSpPr txBox="1"/>
          <p:nvPr/>
        </p:nvSpPr>
        <p:spPr>
          <a:xfrm>
            <a:off x="304800" y="1100000"/>
            <a:ext cx="11339623" cy="5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400"/>
              </a:spcBef>
              <a:buFont typeface="Arial"/>
              <a:buChar char="•"/>
            </a:pPr>
            <a:r>
              <a:rPr lang="en-IN" sz="2800" b="1" dirty="0">
                <a:latin typeface="Times New Roman"/>
                <a:cs typeface="Times New Roman"/>
              </a:rPr>
              <a:t>Module 1 – Web Data Collection:</a:t>
            </a:r>
            <a:r>
              <a:rPr lang="en-IN" sz="2800" b="0" dirty="0">
                <a:latin typeface="Times New Roman"/>
                <a:cs typeface="Times New Roman"/>
              </a:rPr>
              <a:t> identify required HTML elements and scrape name, price and rating using BeautifulSoup.</a:t>
            </a:r>
          </a:p>
          <a:p>
            <a:pPr marL="457200" indent="-457200">
              <a:spcBef>
                <a:spcPts val="1400"/>
              </a:spcBef>
              <a:buFont typeface="Arial"/>
              <a:buChar char="•"/>
            </a:pPr>
            <a:r>
              <a:rPr lang="en-IN" sz="2800" b="1" dirty="0">
                <a:latin typeface="Times New Roman"/>
                <a:cs typeface="Times New Roman"/>
              </a:rPr>
              <a:t>Module 2 – Data Structuring:</a:t>
            </a:r>
            <a:r>
              <a:rPr lang="en-IN" sz="2800" b="0" dirty="0">
                <a:latin typeface="Times New Roman"/>
                <a:cs typeface="Times New Roman"/>
              </a:rPr>
              <a:t> store records in a Pandas DataFrame and save in CSV format.</a:t>
            </a:r>
          </a:p>
          <a:p>
            <a:pPr marL="457200" indent="-457200">
              <a:spcBef>
                <a:spcPts val="1400"/>
              </a:spcBef>
              <a:buFont typeface="Arial"/>
              <a:buChar char="•"/>
            </a:pPr>
            <a:r>
              <a:rPr lang="en-IN" sz="2800" b="1" dirty="0">
                <a:latin typeface="Times New Roman"/>
                <a:cs typeface="Times New Roman"/>
              </a:rPr>
              <a:t>Module 3 – Data Cleaning:</a:t>
            </a:r>
            <a:r>
              <a:rPr lang="en-IN" sz="2800" b="0" dirty="0">
                <a:latin typeface="Times New Roman"/>
                <a:cs typeface="Times New Roman"/>
              </a:rPr>
              <a:t> normalize scraped text and numeric values and validate fields.</a:t>
            </a:r>
          </a:p>
          <a:p>
            <a:pPr marL="457200" indent="-457200">
              <a:spcBef>
                <a:spcPts val="1400"/>
              </a:spcBef>
              <a:buFont typeface="Arial"/>
              <a:buChar char="•"/>
            </a:pPr>
            <a:r>
              <a:rPr lang="en-IN" sz="2800" b="1" dirty="0">
                <a:latin typeface="Times New Roman"/>
                <a:cs typeface="Times New Roman"/>
              </a:rPr>
              <a:t>Module 4 – Data Preparation:</a:t>
            </a:r>
            <a:r>
              <a:rPr lang="en-IN" sz="2800" b="0" dirty="0">
                <a:latin typeface="Times New Roman"/>
                <a:cs typeface="Times New Roman"/>
              </a:rPr>
              <a:t> convert price and rating into analysis-ready numeric fields.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2CAE2E7-9ABB-DA77-F712-97BF6E18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October 2026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50A73081-F60E-9E12-B51F-5677EE818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66542-3A31-7A37-929C-FB4B6951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  <p:sp>
        <p:nvSpPr>
          <p:cNvPr id="2051" name="Title Pill"/>
          <p:cNvSpPr/>
          <p:nvPr/>
        </p:nvSpPr>
        <p:spPr>
          <a:xfrm>
            <a:off x="2896000" y="90000"/>
            <a:ext cx="6400000" cy="560000"/>
          </a:xfrm>
          <a:prstGeom prst="roundRect">
            <a:avLst>
              <a:gd name="adj" fmla="val 18000"/>
            </a:avLst>
          </a:prstGeom>
          <a:solidFill>
            <a:srgbClr val="FF6600"/>
          </a:solidFill>
          <a:ln>
            <a:noFill/>
          </a:ln>
          <a:effectLst>
            <a:outerShdw blurRad="63500" dist="38100" dir="5400000" algn="t" rotWithShape="0">
              <a:srgbClr val="000000">
                <a:alpha val="35000"/>
              </a:srgbClr>
            </a:outerShdw>
          </a:effectLst>
        </p:spPr>
        <p:txBody>
          <a:bodyPr wrap="square" lIns="91440" tIns="0" rIns="91440" bIns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ook Antiqua"/>
                <a:ea typeface="Verdana"/>
                <a:cs typeface="Arial Unicode MS"/>
              </a:rPr>
              <a:t>METHODOLOGY – MODULES 5 TO 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329CAA-6D27-E8CC-7747-87BA2C71D718}"/>
              </a:ext>
            </a:extLst>
          </p:cNvPr>
          <p:cNvSpPr txBox="1"/>
          <p:nvPr/>
        </p:nvSpPr>
        <p:spPr>
          <a:xfrm>
            <a:off x="304800" y="1100000"/>
            <a:ext cx="11339623" cy="5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400"/>
              </a:spcBef>
              <a:buFont typeface="Arial"/>
              <a:buChar char="•"/>
            </a:pPr>
            <a:r>
              <a:rPr lang="en-IN" sz="2800" b="1" dirty="0">
                <a:latin typeface="Times New Roman"/>
                <a:cs typeface="Times New Roman"/>
              </a:rPr>
              <a:t>Module 5 – Exploratory Data Analysis:</a:t>
            </a:r>
            <a:r>
              <a:rPr lang="en-IN" sz="2800" b="0" dirty="0">
                <a:latin typeface="Times New Roman"/>
                <a:cs typeface="Times New Roman"/>
              </a:rPr>
              <a:t> compare price levels and inspect rating-versus-price patterns.</a:t>
            </a:r>
          </a:p>
          <a:p>
            <a:pPr marL="457200" indent="-457200">
              <a:spcBef>
                <a:spcPts val="1400"/>
              </a:spcBef>
              <a:buFont typeface="Arial"/>
              <a:buChar char="•"/>
            </a:pPr>
            <a:r>
              <a:rPr lang="en-IN" sz="2800" b="1" dirty="0">
                <a:latin typeface="Times New Roman"/>
                <a:cs typeface="Times New Roman"/>
              </a:rPr>
              <a:t>Module 6 – Product Analysis:</a:t>
            </a:r>
            <a:r>
              <a:rPr lang="en-IN" sz="2800" b="0" dirty="0">
                <a:latin typeface="Times New Roman"/>
                <a:cs typeface="Times New Roman"/>
              </a:rPr>
              <a:t> perform price comparison and examine how ratings relate to prices.</a:t>
            </a:r>
          </a:p>
          <a:p>
            <a:pPr marL="457200" indent="-457200">
              <a:spcBef>
                <a:spcPts val="1400"/>
              </a:spcBef>
              <a:buFont typeface="Arial"/>
              <a:buChar char="•"/>
            </a:pPr>
            <a:r>
              <a:rPr lang="en-IN" sz="2800" b="1" dirty="0">
                <a:latin typeface="Times New Roman"/>
                <a:cs typeface="Times New Roman"/>
              </a:rPr>
              <a:t>Module 7 – Data Visualization:</a:t>
            </a:r>
            <a:r>
              <a:rPr lang="en-IN" sz="2800" b="0" dirty="0">
                <a:latin typeface="Times New Roman"/>
                <a:cs typeface="Times New Roman"/>
              </a:rPr>
              <a:t> bar charts for price comparison and scatter plots for rating vs price.</a:t>
            </a:r>
          </a:p>
          <a:p>
            <a:pPr marL="457200" indent="-457200">
              <a:spcBef>
                <a:spcPts val="1400"/>
              </a:spcBef>
              <a:buFont typeface="Arial"/>
              <a:buChar char="•"/>
            </a:pPr>
            <a:r>
              <a:rPr lang="en-IN" sz="2800" b="1" dirty="0">
                <a:latin typeface="Times New Roman"/>
                <a:cs typeface="Times New Roman"/>
              </a:rPr>
              <a:t>Module 8 – Web Presentation:</a:t>
            </a:r>
            <a:r>
              <a:rPr lang="en-IN" sz="2800" b="0" dirty="0">
                <a:latin typeface="Times New Roman"/>
                <a:cs typeface="Times New Roman"/>
              </a:rPr>
              <a:t> present products and analysis through Flask with search, refresh and CSV download.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2CAE2E7-9ABB-DA77-F712-97BF6E18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October 2026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50A73081-F60E-9E12-B51F-5677EE818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66542-3A31-7A37-929C-FB4B6951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  <p:sp>
        <p:nvSpPr>
          <p:cNvPr id="2051" name="Title Pill"/>
          <p:cNvSpPr/>
          <p:nvPr/>
        </p:nvSpPr>
        <p:spPr>
          <a:xfrm>
            <a:off x="2896000" y="90000"/>
            <a:ext cx="6400000" cy="560000"/>
          </a:xfrm>
          <a:prstGeom prst="roundRect">
            <a:avLst>
              <a:gd name="adj" fmla="val 18000"/>
            </a:avLst>
          </a:prstGeom>
          <a:solidFill>
            <a:srgbClr val="FF6600"/>
          </a:solidFill>
          <a:ln>
            <a:noFill/>
          </a:ln>
          <a:effectLst>
            <a:outerShdw blurRad="63500" dist="38100" dir="5400000" algn="t" rotWithShape="0">
              <a:srgbClr val="000000">
                <a:alpha val="35000"/>
              </a:srgbClr>
            </a:outerShdw>
          </a:effectLst>
        </p:spPr>
        <p:txBody>
          <a:bodyPr wrap="square" lIns="91440" tIns="0" rIns="91440" bIns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ook Antiqua"/>
                <a:ea typeface="Verdana"/>
                <a:cs typeface="Arial Unicode MS"/>
              </a:rPr>
              <a:t>SCREENSHOTS OF OUTPUTS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2CAE2E7-9ABB-DA77-F712-97BF6E18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October 2026</a:t>
            </a:fld>
            <a:endParaRPr lang="en-US" dirty="0"/>
          </a:p>
        </p:txBody>
      </p:sp>
      <p:sp>
        <p:nvSpPr>
          <p:cNvPr id="2052" name="Rounded Rectangle 2051"/>
          <p:cNvSpPr/>
          <p:nvPr/>
        </p:nvSpPr>
        <p:spPr>
          <a:xfrm>
            <a:off x="396000" y="1000000"/>
            <a:ext cx="11400000" cy="49000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9050">
            <a:solidFill>
              <a:srgbClr val="FF66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>
                <a:solidFill>
                  <a:srgbClr val="595959"/>
                </a:solidFill>
                <a:latin typeface="Calibri"/>
              </a:rPr>
              <a:t>Insert screenshot here</a:t>
            </a:r>
          </a:p>
          <a:p>
            <a:pPr algn="ctr"/>
            <a:r>
              <a:rPr sz="2800" b="1">
                <a:solidFill>
                  <a:srgbClr val="1B2A4A"/>
                </a:solidFill>
                <a:latin typeface="Calibri"/>
              </a:rPr>
              <a:t>Scraped Data (DataFrame / CSV)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A3459F-5B02-74A2-ABB2-9AB209101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87" t="2614"/>
          <a:stretch>
            <a:fillRect/>
          </a:stretch>
        </p:blipFill>
        <p:spPr>
          <a:xfrm>
            <a:off x="396000" y="1000000"/>
            <a:ext cx="11400000" cy="501958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50A73081-F60E-9E12-B51F-5677EE818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66542-3A31-7A37-929C-FB4B6951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  <p:sp>
        <p:nvSpPr>
          <p:cNvPr id="2051" name="Title Pill"/>
          <p:cNvSpPr/>
          <p:nvPr/>
        </p:nvSpPr>
        <p:spPr>
          <a:xfrm>
            <a:off x="2896000" y="90000"/>
            <a:ext cx="6400000" cy="560000"/>
          </a:xfrm>
          <a:prstGeom prst="roundRect">
            <a:avLst>
              <a:gd name="adj" fmla="val 18000"/>
            </a:avLst>
          </a:prstGeom>
          <a:solidFill>
            <a:srgbClr val="FF6600"/>
          </a:solidFill>
          <a:ln>
            <a:noFill/>
          </a:ln>
          <a:effectLst>
            <a:outerShdw blurRad="63500" dist="38100" dir="5400000" algn="t" rotWithShape="0">
              <a:srgbClr val="000000">
                <a:alpha val="35000"/>
              </a:srgbClr>
            </a:outerShdw>
          </a:effectLst>
        </p:spPr>
        <p:txBody>
          <a:bodyPr wrap="square" lIns="91440" tIns="0" rIns="91440" bIns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ook Antiqua"/>
                <a:ea typeface="Verdana"/>
                <a:cs typeface="Arial Unicode MS"/>
              </a:rPr>
              <a:t>SCREENSHOTS OF OUTPUTS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2CAE2E7-9ABB-DA77-F712-97BF6E18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October 2026</a:t>
            </a:fld>
            <a:endParaRPr lang="en-US" dirty="0"/>
          </a:p>
        </p:txBody>
      </p:sp>
      <p:sp>
        <p:nvSpPr>
          <p:cNvPr id="2052" name="Rounded Rectangle 2051"/>
          <p:cNvSpPr/>
          <p:nvPr/>
        </p:nvSpPr>
        <p:spPr>
          <a:xfrm>
            <a:off x="396000" y="1000000"/>
            <a:ext cx="5575000" cy="49000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9050">
            <a:solidFill>
              <a:srgbClr val="FF66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dirty="0">
                <a:solidFill>
                  <a:srgbClr val="595959"/>
                </a:solidFill>
                <a:latin typeface="Calibri"/>
              </a:rPr>
              <a:t>Insert screenshot here</a:t>
            </a:r>
          </a:p>
          <a:p>
            <a:pPr algn="ctr"/>
            <a:r>
              <a:rPr sz="2800" b="1" dirty="0">
                <a:solidFill>
                  <a:srgbClr val="1B2A4A"/>
                </a:solidFill>
                <a:latin typeface="Calibri"/>
              </a:rPr>
              <a:t>Price Comparison Bar Chart</a:t>
            </a:r>
          </a:p>
        </p:txBody>
      </p:sp>
      <p:sp>
        <p:nvSpPr>
          <p:cNvPr id="2053" name="Rounded Rectangle 2052"/>
          <p:cNvSpPr/>
          <p:nvPr/>
        </p:nvSpPr>
        <p:spPr>
          <a:xfrm>
            <a:off x="6221000" y="1000000"/>
            <a:ext cx="5575000" cy="49000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9050">
            <a:solidFill>
              <a:srgbClr val="FF66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>
                <a:solidFill>
                  <a:srgbClr val="595959"/>
                </a:solidFill>
                <a:latin typeface="Calibri"/>
              </a:rPr>
              <a:t>Insert screenshot here</a:t>
            </a:r>
          </a:p>
          <a:p>
            <a:pPr algn="ctr"/>
            <a:r>
              <a:rPr sz="2800" b="1">
                <a:solidFill>
                  <a:srgbClr val="1B2A4A"/>
                </a:solidFill>
                <a:latin typeface="Calibri"/>
              </a:rPr>
              <a:t>Rating vs Price Scatter Plot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8108D2-4EC0-7E0D-301E-B128913B8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00" y="958001"/>
            <a:ext cx="5732169" cy="581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FA8AE2-DB3E-00CB-268D-A8F3C442E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999" y="1000000"/>
            <a:ext cx="5917025" cy="490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50A73081-F60E-9E12-B51F-5677EE818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66542-3A31-7A37-929C-FB4B6951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  <p:sp>
        <p:nvSpPr>
          <p:cNvPr id="2051" name="Title Pill"/>
          <p:cNvSpPr/>
          <p:nvPr/>
        </p:nvSpPr>
        <p:spPr>
          <a:xfrm>
            <a:off x="2896000" y="90000"/>
            <a:ext cx="6400000" cy="560000"/>
          </a:xfrm>
          <a:prstGeom prst="roundRect">
            <a:avLst>
              <a:gd name="adj" fmla="val 18000"/>
            </a:avLst>
          </a:prstGeom>
          <a:solidFill>
            <a:srgbClr val="FF6600"/>
          </a:solidFill>
          <a:ln>
            <a:noFill/>
          </a:ln>
          <a:effectLst>
            <a:outerShdw blurRad="63500" dist="38100" dir="5400000" algn="t" rotWithShape="0">
              <a:srgbClr val="000000">
                <a:alpha val="35000"/>
              </a:srgbClr>
            </a:outerShdw>
          </a:effectLst>
        </p:spPr>
        <p:txBody>
          <a:bodyPr wrap="square" lIns="91440" tIns="0" rIns="91440" bIns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ook Antiqua"/>
                <a:ea typeface="Verdana"/>
                <a:cs typeface="Arial Unicode MS"/>
              </a:rPr>
              <a:t>SCREENSHOTS OF OUTPUTS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2CAE2E7-9ABB-DA77-F712-97BF6E18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October 2026</a:t>
            </a:fld>
            <a:endParaRPr lang="en-US" dirty="0"/>
          </a:p>
        </p:txBody>
      </p:sp>
      <p:sp>
        <p:nvSpPr>
          <p:cNvPr id="2052" name="Rounded Rectangle 2051"/>
          <p:cNvSpPr/>
          <p:nvPr/>
        </p:nvSpPr>
        <p:spPr>
          <a:xfrm>
            <a:off x="396000" y="1000000"/>
            <a:ext cx="11400000" cy="49000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9050">
            <a:solidFill>
              <a:srgbClr val="FF66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>
                <a:solidFill>
                  <a:srgbClr val="595959"/>
                </a:solidFill>
                <a:latin typeface="Calibri"/>
              </a:rPr>
              <a:t>Insert screenshot here</a:t>
            </a:r>
          </a:p>
          <a:p>
            <a:pPr algn="ctr"/>
            <a:r>
              <a:rPr sz="2800" b="1">
                <a:solidFill>
                  <a:srgbClr val="1B2A4A"/>
                </a:solidFill>
                <a:latin typeface="Calibri"/>
              </a:rPr>
              <a:t>Flask Web Interface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16589F-DEF8-FF35-BC64-4274B99191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00" y="875929"/>
            <a:ext cx="11400000" cy="529627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50A73081-F60E-9E12-B51F-5677EE818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66542-3A31-7A37-929C-FB4B6951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  <p:sp>
        <p:nvSpPr>
          <p:cNvPr id="2051" name="Title Pill"/>
          <p:cNvSpPr/>
          <p:nvPr/>
        </p:nvSpPr>
        <p:spPr>
          <a:xfrm>
            <a:off x="2896000" y="90000"/>
            <a:ext cx="6400000" cy="560000"/>
          </a:xfrm>
          <a:prstGeom prst="roundRect">
            <a:avLst>
              <a:gd name="adj" fmla="val 18000"/>
            </a:avLst>
          </a:prstGeom>
          <a:solidFill>
            <a:srgbClr val="FF6600"/>
          </a:solidFill>
          <a:ln>
            <a:noFill/>
          </a:ln>
          <a:effectLst>
            <a:outerShdw blurRad="63500" dist="38100" dir="5400000" algn="t" rotWithShape="0">
              <a:srgbClr val="000000">
                <a:alpha val="35000"/>
              </a:srgbClr>
            </a:outerShdw>
          </a:effectLst>
        </p:spPr>
        <p:txBody>
          <a:bodyPr wrap="square" lIns="91440" tIns="0" rIns="91440" bIns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ook Antiqua"/>
                <a:ea typeface="Verdana"/>
                <a:cs typeface="Arial Unicode MS"/>
              </a:rPr>
              <a:t>LIMITATIONS &amp; FUTURE SCOPE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329CAA-6D27-E8CC-7747-87BA2C71D718}"/>
              </a:ext>
            </a:extLst>
          </p:cNvPr>
          <p:cNvSpPr txBox="1"/>
          <p:nvPr/>
        </p:nvSpPr>
        <p:spPr>
          <a:xfrm>
            <a:off x="304800" y="900000"/>
            <a:ext cx="11339623" cy="5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ts val="500"/>
              </a:spcBef>
              <a:buNone/>
            </a:pPr>
            <a:r>
              <a:rPr lang="en-IN" sz="2600" b="1" dirty="0">
                <a:latin typeface="Times New Roman"/>
                <a:cs typeface="Times New Roman"/>
              </a:rPr>
              <a:t>Current Limitations</a:t>
            </a:r>
          </a:p>
          <a:p>
            <a:pPr marL="457200" indent="-457200">
              <a:spcBef>
                <a:spcPts val="500"/>
              </a:spcBef>
              <a:buFont typeface="Arial"/>
              <a:buChar char="•"/>
            </a:pPr>
            <a:r>
              <a:rPr lang="en-IN" sz="2600" b="0" dirty="0">
                <a:latin typeface="Times New Roman"/>
                <a:cs typeface="Times New Roman"/>
              </a:rPr>
              <a:t>Working sample is only </a:t>
            </a:r>
            <a:r>
              <a:rPr lang="en-IN" sz="2600" b="1" dirty="0">
                <a:latin typeface="Times New Roman"/>
                <a:cs typeface="Times New Roman"/>
              </a:rPr>
              <a:t>20 records</a:t>
            </a:r>
            <a:r>
              <a:rPr lang="en-IN" sz="2600" b="0" dirty="0">
                <a:latin typeface="Times New Roman"/>
                <a:cs typeface="Times New Roman"/>
              </a:rPr>
              <a:t>.</a:t>
            </a:r>
          </a:p>
          <a:p>
            <a:pPr marL="457200" indent="-457200">
              <a:spcBef>
                <a:spcPts val="500"/>
              </a:spcBef>
              <a:buFont typeface="Arial"/>
              <a:buChar char="•"/>
            </a:pPr>
            <a:r>
              <a:rPr lang="en-IN" sz="2600" b="0" dirty="0">
                <a:latin typeface="Times New Roman"/>
                <a:cs typeface="Times New Roman"/>
              </a:rPr>
              <a:t>Books to Scrape is a </a:t>
            </a:r>
            <a:r>
              <a:rPr lang="en-IN" sz="2600" b="1" dirty="0">
                <a:latin typeface="Times New Roman"/>
                <a:cs typeface="Times New Roman"/>
              </a:rPr>
              <a:t>practice site</a:t>
            </a:r>
            <a:r>
              <a:rPr lang="en-IN" sz="2600" b="0" dirty="0">
                <a:latin typeface="Times New Roman"/>
                <a:cs typeface="Times New Roman"/>
              </a:rPr>
              <a:t>; its prices and ratings are not real market signals.</a:t>
            </a:r>
          </a:p>
          <a:p>
            <a:pPr marL="457200" indent="-457200">
              <a:spcBef>
                <a:spcPts val="500"/>
              </a:spcBef>
              <a:buFont typeface="Arial"/>
              <a:buChar char="•"/>
            </a:pPr>
            <a:r>
              <a:rPr lang="en-IN" sz="2600" b="0" dirty="0">
                <a:latin typeface="Times New Roman"/>
                <a:cs typeface="Times New Roman"/>
              </a:rPr>
              <a:t>Web-page changes can </a:t>
            </a:r>
            <a:r>
              <a:rPr lang="en-IN" sz="2600" b="1" dirty="0">
                <a:latin typeface="Times New Roman"/>
                <a:cs typeface="Times New Roman"/>
              </a:rPr>
              <a:t>break scraping selectors</a:t>
            </a:r>
            <a:r>
              <a:rPr lang="en-IN" sz="2600" b="0" dirty="0">
                <a:latin typeface="Times New Roman"/>
                <a:cs typeface="Times New Roman"/>
              </a:rPr>
              <a:t>.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2600" b="1" dirty="0">
                <a:latin typeface="Times New Roman"/>
                <a:cs typeface="Times New Roman"/>
              </a:rPr>
              <a:t>Future Scope</a:t>
            </a:r>
          </a:p>
          <a:p>
            <a:pPr marL="457200" indent="-457200">
              <a:spcBef>
                <a:spcPts val="500"/>
              </a:spcBef>
              <a:buFont typeface="Arial"/>
              <a:buChar char="•"/>
            </a:pPr>
            <a:r>
              <a:rPr lang="en-IN" sz="2600" b="1" dirty="0">
                <a:latin typeface="Times New Roman"/>
                <a:cs typeface="Times New Roman"/>
              </a:rPr>
              <a:t>Expand</a:t>
            </a:r>
            <a:r>
              <a:rPr lang="en-IN" sz="2600" b="0" dirty="0">
                <a:latin typeface="Times New Roman"/>
                <a:cs typeface="Times New Roman"/>
              </a:rPr>
              <a:t> the dataset to more pages and categories.</a:t>
            </a:r>
          </a:p>
          <a:p>
            <a:pPr marL="457200" indent="-457200">
              <a:spcBef>
                <a:spcPts val="500"/>
              </a:spcBef>
              <a:buFont typeface="Arial"/>
              <a:buChar char="•"/>
            </a:pPr>
            <a:r>
              <a:rPr lang="en-IN" sz="2600" b="0" dirty="0">
                <a:latin typeface="Times New Roman"/>
                <a:cs typeface="Times New Roman"/>
              </a:rPr>
              <a:t>Strengthen </a:t>
            </a:r>
            <a:r>
              <a:rPr lang="en-IN" sz="2600" b="1" dirty="0">
                <a:latin typeface="Times New Roman"/>
                <a:cs typeface="Times New Roman"/>
              </a:rPr>
              <a:t>validation</a:t>
            </a:r>
            <a:r>
              <a:rPr lang="en-IN" sz="2600" b="0" dirty="0">
                <a:latin typeface="Times New Roman"/>
                <a:cs typeface="Times New Roman"/>
              </a:rPr>
              <a:t> for changing web structures.</a:t>
            </a:r>
          </a:p>
          <a:p>
            <a:pPr marL="457200" indent="-457200">
              <a:spcBef>
                <a:spcPts val="500"/>
              </a:spcBef>
              <a:buFont typeface="Arial"/>
              <a:buChar char="•"/>
            </a:pPr>
            <a:r>
              <a:rPr lang="en-IN" sz="2600" b="0" dirty="0">
                <a:latin typeface="Times New Roman"/>
                <a:cs typeface="Times New Roman"/>
              </a:rPr>
              <a:t>Improve </a:t>
            </a:r>
            <a:r>
              <a:rPr lang="en-IN" sz="2600" b="1" dirty="0">
                <a:latin typeface="Times New Roman"/>
                <a:cs typeface="Times New Roman"/>
              </a:rPr>
              <a:t>dashboard interactivity</a:t>
            </a:r>
            <a:r>
              <a:rPr lang="en-IN" sz="2600" b="0" dirty="0">
                <a:latin typeface="Times New Roman"/>
                <a:cs typeface="Times New Roman"/>
              </a:rPr>
              <a:t> and add richer analytics.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2CAE2E7-9ABB-DA77-F712-97BF6E18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October 2026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50A73081-F60E-9E12-B51F-5677EE818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66542-3A31-7A37-929C-FB4B6951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  <p:sp>
        <p:nvSpPr>
          <p:cNvPr id="2051" name="Title Pill"/>
          <p:cNvSpPr/>
          <p:nvPr/>
        </p:nvSpPr>
        <p:spPr>
          <a:xfrm>
            <a:off x="2896000" y="90000"/>
            <a:ext cx="6400000" cy="560000"/>
          </a:xfrm>
          <a:prstGeom prst="roundRect">
            <a:avLst>
              <a:gd name="adj" fmla="val 18000"/>
            </a:avLst>
          </a:prstGeom>
          <a:solidFill>
            <a:srgbClr val="FF6600"/>
          </a:solidFill>
          <a:ln>
            <a:noFill/>
          </a:ln>
          <a:effectLst>
            <a:outerShdw blurRad="63500" dist="38100" dir="5400000" algn="t" rotWithShape="0">
              <a:srgbClr val="000000">
                <a:alpha val="35000"/>
              </a:srgbClr>
            </a:outerShdw>
          </a:effectLst>
        </p:spPr>
        <p:txBody>
          <a:bodyPr wrap="square" lIns="91440" tIns="0" rIns="91440" bIns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ook Antiqua"/>
                <a:ea typeface="Verdana"/>
                <a:cs typeface="Arial Unicode MS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329CAA-6D27-E8CC-7747-87BA2C71D718}"/>
              </a:ext>
            </a:extLst>
          </p:cNvPr>
          <p:cNvSpPr txBox="1"/>
          <p:nvPr/>
        </p:nvSpPr>
        <p:spPr>
          <a:xfrm>
            <a:off x="304800" y="900000"/>
            <a:ext cx="11339623" cy="5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n-IN" sz="3000" b="0" dirty="0">
                <a:latin typeface="Times New Roman"/>
                <a:cs typeface="Times New Roman"/>
              </a:rPr>
              <a:t>The project demonstrates a </a:t>
            </a:r>
            <a:r>
              <a:rPr lang="en-IN" sz="3000" b="1" dirty="0">
                <a:latin typeface="Times New Roman"/>
                <a:cs typeface="Times New Roman"/>
              </a:rPr>
              <a:t>complete web-scraping and product-analysis pipeline</a:t>
            </a:r>
            <a:r>
              <a:rPr lang="en-IN" sz="3000" b="0" dirty="0">
                <a:latin typeface="Times New Roman"/>
                <a:cs typeface="Times New Roman"/>
              </a:rPr>
              <a:t> using Python.</a:t>
            </a:r>
          </a:p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n-IN" sz="3000" b="1" dirty="0">
                <a:latin typeface="Times New Roman"/>
                <a:cs typeface="Times New Roman"/>
              </a:rPr>
              <a:t>BeautifulSoup</a:t>
            </a:r>
            <a:r>
              <a:rPr lang="en-IN" sz="3000" b="0" dirty="0">
                <a:latin typeface="Times New Roman"/>
                <a:cs typeface="Times New Roman"/>
              </a:rPr>
              <a:t> collects product data from a practice website.</a:t>
            </a:r>
          </a:p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n-IN" sz="3000" b="1" dirty="0">
                <a:latin typeface="Times New Roman"/>
                <a:cs typeface="Times New Roman"/>
              </a:rPr>
              <a:t>Pandas and CSV</a:t>
            </a:r>
            <a:r>
              <a:rPr lang="en-IN" sz="3000" b="0" dirty="0">
                <a:latin typeface="Times New Roman"/>
                <a:cs typeface="Times New Roman"/>
              </a:rPr>
              <a:t> provide structured storage and preprocessing.</a:t>
            </a:r>
          </a:p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n-IN" sz="3000" b="1" dirty="0">
                <a:latin typeface="Times New Roman"/>
                <a:cs typeface="Times New Roman"/>
              </a:rPr>
              <a:t>Matplotlib</a:t>
            </a:r>
            <a:r>
              <a:rPr lang="en-IN" sz="3000" b="0" dirty="0">
                <a:latin typeface="Times New Roman"/>
                <a:cs typeface="Times New Roman"/>
              </a:rPr>
              <a:t> supports product price and rating analysis.</a:t>
            </a:r>
          </a:p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n-IN" sz="3000" b="1" dirty="0">
                <a:latin typeface="Times New Roman"/>
                <a:cs typeface="Times New Roman"/>
              </a:rPr>
              <a:t>Flask</a:t>
            </a:r>
            <a:r>
              <a:rPr lang="en-IN" sz="3000" b="0" dirty="0">
                <a:latin typeface="Times New Roman"/>
                <a:cs typeface="Times New Roman"/>
              </a:rPr>
              <a:t> provides a simple web-based presentation layer.</a:t>
            </a:r>
          </a:p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n-IN" sz="3000" b="0" dirty="0">
                <a:latin typeface="Times New Roman"/>
                <a:cs typeface="Times New Roman"/>
              </a:rPr>
              <a:t>The workflow connects </a:t>
            </a:r>
            <a:r>
              <a:rPr lang="en-IN" sz="3000" b="1" dirty="0">
                <a:latin typeface="Times New Roman"/>
                <a:cs typeface="Times New Roman"/>
              </a:rPr>
              <a:t>data collection with practical data analytics</a:t>
            </a:r>
            <a:r>
              <a:rPr lang="en-IN" sz="3000" b="0" dirty="0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2CAE2E7-9ABB-DA77-F712-97BF6E18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October 2026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50A73081-F60E-9E12-B51F-5677EE818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66542-3A31-7A37-929C-FB4B6951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  <p:sp>
        <p:nvSpPr>
          <p:cNvPr id="2051" name="Title Pill"/>
          <p:cNvSpPr/>
          <p:nvPr/>
        </p:nvSpPr>
        <p:spPr>
          <a:xfrm>
            <a:off x="2896000" y="90000"/>
            <a:ext cx="6400000" cy="560000"/>
          </a:xfrm>
          <a:prstGeom prst="roundRect">
            <a:avLst>
              <a:gd name="adj" fmla="val 18000"/>
            </a:avLst>
          </a:prstGeom>
          <a:solidFill>
            <a:srgbClr val="FF6600"/>
          </a:solidFill>
          <a:ln>
            <a:noFill/>
          </a:ln>
          <a:effectLst>
            <a:outerShdw blurRad="63500" dist="38100" dir="5400000" algn="t" rotWithShape="0">
              <a:srgbClr val="000000">
                <a:alpha val="35000"/>
              </a:srgbClr>
            </a:outerShdw>
          </a:effectLst>
        </p:spPr>
        <p:txBody>
          <a:bodyPr wrap="square" lIns="91440" tIns="0" rIns="91440" bIns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ook Antiqua"/>
                <a:ea typeface="Verdana"/>
                <a:cs typeface="Arial Unicode MS"/>
              </a:rPr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329CAA-6D27-E8CC-7747-87BA2C71D718}"/>
              </a:ext>
            </a:extLst>
          </p:cNvPr>
          <p:cNvSpPr txBox="1"/>
          <p:nvPr/>
        </p:nvSpPr>
        <p:spPr>
          <a:xfrm>
            <a:off x="304800" y="1100000"/>
            <a:ext cx="11339623" cy="5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400"/>
              </a:spcBef>
              <a:buFont typeface="Arial"/>
              <a:buChar char="•"/>
            </a:pPr>
            <a:r>
              <a:rPr lang="en-IN" sz="3000" b="1" dirty="0">
                <a:latin typeface="Times New Roman"/>
                <a:cs typeface="Times New Roman"/>
              </a:rPr>
              <a:t>Books to Scrape</a:t>
            </a:r>
            <a:r>
              <a:rPr lang="en-IN" sz="3000" b="0" dirty="0">
                <a:latin typeface="Times New Roman"/>
                <a:cs typeface="Times New Roman"/>
              </a:rPr>
              <a:t> – practice web-scraping website (books.toscrape.com).</a:t>
            </a:r>
          </a:p>
          <a:p>
            <a:pPr marL="457200" indent="-457200">
              <a:spcBef>
                <a:spcPts val="1400"/>
              </a:spcBef>
              <a:buFont typeface="Arial"/>
              <a:buChar char="•"/>
            </a:pPr>
            <a:r>
              <a:rPr lang="en-IN" sz="3000" b="1" dirty="0">
                <a:latin typeface="Times New Roman"/>
                <a:cs typeface="Times New Roman"/>
              </a:rPr>
              <a:t>Beautiful Soup Documentation</a:t>
            </a:r>
            <a:r>
              <a:rPr lang="en-IN" sz="3000" b="0" dirty="0">
                <a:latin typeface="Times New Roman"/>
                <a:cs typeface="Times New Roman"/>
              </a:rPr>
              <a:t> – HTML parsing and data extraction.</a:t>
            </a:r>
          </a:p>
          <a:p>
            <a:pPr marL="457200" indent="-457200">
              <a:spcBef>
                <a:spcPts val="1400"/>
              </a:spcBef>
              <a:buFont typeface="Arial"/>
              <a:buChar char="•"/>
            </a:pPr>
            <a:r>
              <a:rPr lang="en-IN" sz="3000" b="1" dirty="0">
                <a:latin typeface="Times New Roman"/>
                <a:cs typeface="Times New Roman"/>
              </a:rPr>
              <a:t>Flask Documentation</a:t>
            </a:r>
            <a:r>
              <a:rPr lang="en-IN" sz="3000" b="0" dirty="0">
                <a:latin typeface="Times New Roman"/>
                <a:cs typeface="Times New Roman"/>
              </a:rPr>
              <a:t> – application structure, routes and templates.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2CAE2E7-9ABB-DA77-F712-97BF6E18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October 2026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593B4-476E-4154-126D-572E4D94F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731CC09E-5F2B-127E-B959-E43EC824D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752600" cy="681567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C6A896-D659-EBC1-F511-984ED3D00C70}"/>
              </a:ext>
            </a:extLst>
          </p:cNvPr>
          <p:cNvSpPr txBox="1"/>
          <p:nvPr/>
        </p:nvSpPr>
        <p:spPr>
          <a:xfrm>
            <a:off x="914400" y="685800"/>
            <a:ext cx="10363455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Book Antiqua" panose="02040602050305030304" pitchFamily="18" charset="0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Book Antiqua" panose="02040602050305030304" pitchFamily="18" charset="0"/>
            </a:endParaRPr>
          </a:p>
          <a:p>
            <a:pPr algn="just"/>
            <a:endParaRPr lang="en-US" sz="2000" dirty="0">
              <a:latin typeface="Book Antiqua" panose="02040602050305030304" pitchFamily="18" charset="0"/>
            </a:endParaRPr>
          </a:p>
          <a:p>
            <a:pPr algn="just"/>
            <a:endParaRPr lang="en-US" sz="2000" dirty="0">
              <a:latin typeface="Book Antiqua" panose="0204060205030503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Book Antiqua" panose="02040602050305030304" pitchFamily="18" charset="0"/>
            </a:endParaRPr>
          </a:p>
          <a:p>
            <a:pPr algn="just"/>
            <a:endParaRPr lang="en-IN" sz="2000" dirty="0">
              <a:latin typeface="Book Antiqua" panose="02040602050305030304" pitchFamily="18" charset="0"/>
            </a:endParaRPr>
          </a:p>
        </p:txBody>
      </p:sp>
      <p:pic>
        <p:nvPicPr>
          <p:cNvPr id="3" name="Picture 2" descr="Kulanz kann dauerhaft zur Zahlung verpflichten » AGENTIN">
            <a:extLst>
              <a:ext uri="{FF2B5EF4-FFF2-40B4-BE49-F238E27FC236}">
                <a16:creationId xmlns:a16="http://schemas.microsoft.com/office/drawing/2014/main" id="{CAB12B53-49A4-9B69-92A3-563B5C4DE8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978"/>
          <a:stretch/>
        </p:blipFill>
        <p:spPr bwMode="auto">
          <a:xfrm>
            <a:off x="3794489" y="1667831"/>
            <a:ext cx="4603021" cy="2388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136233-8172-A16B-7911-98FFDEBFF855}"/>
              </a:ext>
            </a:extLst>
          </p:cNvPr>
          <p:cNvSpPr txBox="1"/>
          <p:nvPr/>
        </p:nvSpPr>
        <p:spPr>
          <a:xfrm>
            <a:off x="3046708" y="4344377"/>
            <a:ext cx="6098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69303">
              <a:spcBef>
                <a:spcPct val="0"/>
              </a:spcBef>
              <a:spcAft>
                <a:spcPts val="238"/>
              </a:spcAft>
            </a:pPr>
            <a:r>
              <a:rPr lang="en-US" sz="3600" dirty="0">
                <a:ln w="22225">
                  <a:solidFill>
                    <a:schemeClr val="accent2">
                      <a:lumMod val="50000"/>
                    </a:schemeClr>
                  </a:solidFill>
                  <a:prstDash val="solid"/>
                </a:ln>
                <a:latin typeface="Berlin Sans FB" panose="020E0602020502020306" pitchFamily="34" charset="0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49079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1339</TotalTime>
  <Words>1150</Words>
  <Application>Microsoft Office PowerPoint</Application>
  <PresentationFormat>Widescreen</PresentationFormat>
  <Paragraphs>212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Berlin Sans FB</vt:lpstr>
      <vt:lpstr>Book Antiqua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My</dc:creator>
  <cp:lastModifiedBy>*** AMMU ***</cp:lastModifiedBy>
  <cp:revision>73</cp:revision>
  <dcterms:created xsi:type="dcterms:W3CDTF">2006-08-16T00:00:00Z</dcterms:created>
  <dcterms:modified xsi:type="dcterms:W3CDTF">2026-10-26T09:01:04Z</dcterms:modified>
</cp:coreProperties>
</file>